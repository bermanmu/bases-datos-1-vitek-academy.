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2ECD5-6174-45B8-48A5-DC65CCA19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818714-6668-02EF-0BE7-EFAE6C002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45956F-8766-C104-511A-92A7EECD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5ED6-F911-EBCC-E362-B3BD25B9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8A2067-2C84-9C9A-5362-A615C8D1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523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D6E38-5D86-2275-4847-C5F8EAAB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ED1FF-BEC6-B65B-48FE-7B31169A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558D68-CD7C-83AF-C335-5BE674FB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057A66-D406-86ED-806E-F017912D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AE242-88F9-292D-C9DC-D5C80A85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617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83F93-E263-9F8C-1A6B-9C2851C7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8171CC-1D06-E3A7-6E73-E938DF286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29445F-B43E-ADAB-354C-06F06CBE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12FD3-0226-7E43-FC40-42F701AA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60B36B-07A7-B835-9706-3A1617C6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381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608E0-B185-D981-3147-1229E934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DE92E-77BE-5563-6A5B-1817396EA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8D8A6B-DA18-FDEF-6A3D-DF9C8F579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1CAA43-C6EC-6C5B-4D7E-A4A2DF6D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60F230-750F-6DE7-C0A7-B6C71087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6D08C9-85A9-F816-5508-B5162A06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42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89D25-A4F9-6DB4-B978-3476B14C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670492-A359-E547-3894-3591DAA6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3C68F3-B68E-EA41-1746-1926D7538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2F3125-CFF6-82E0-0F8F-E2CAE9C36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93EEDC-19F4-DE0F-AEF0-709BF14E6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BF7DA0-9C20-8967-FE32-3436791E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2278C3-087F-37E9-7649-36AA16C9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E3ED5E-51D5-0BB4-A155-E493BD09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8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A878C-2B32-F7C9-4371-C65C5583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1E515D-9C5D-FBB8-FD0D-C6392EAEE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CAD9D7-94E1-2353-12C8-D0760879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05DA9B-C6CD-BC5E-C863-D569EA8B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63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A09F30-1B2D-3F1C-97D0-02980ABE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F54E0E-CF14-D4D2-AD34-B74A618F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46402-4357-7BAE-BF4D-3E3BDD64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972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3B3AE-2076-9F41-1F4E-EE5BB74B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578AC6-6C33-F6C9-973F-20F739FC1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7F78BA-3DB1-7686-F3A3-AA7CD7879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7DC2F2-1C5B-E7D1-90AC-63DFBED1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3AB5E-8BD8-1848-AC13-05DA20EB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3AE851-D0C7-8F0E-F731-96747889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828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F5D4E-16F5-1327-9ABC-9BE4329F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5B5F01-859B-438C-125A-05E5B9F9C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5A4931-8A69-55A8-F86A-F7CBCE7F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FB643B-35BA-AC53-54FA-DD00F14D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CACA5-07FA-DB0B-38A5-F1463FCB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D406C6-7240-A5F8-52C0-C9CB038F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227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DC521-7317-9EE7-829E-7D21CCC5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230A5C-37BC-4EC0-DC02-72D098B72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4AC0C3-C73A-84D1-419D-FDAF9E83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53995-BA09-9F9F-7706-1A76F614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5D7C7-4FBD-E8D1-2374-24B5806A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331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380A01-2966-E65F-DD0A-059870FFF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2F6883-BA22-BF34-D5A7-E186D1AEF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56FAB3-3918-4BF6-6977-2F674811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94FFF2-DE1B-497D-21D2-D5C73AF5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887700-0DDA-6822-BD48-FEFFE74D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405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15AB8A-585B-A85E-94D6-D359638A7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5B79BA-371E-4E5E-3B6D-B04BF500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E602C5-B239-EE35-C95E-497AE3991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9D72B-C289-4FA2-A7A6-285C7A564C03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12A4DD-04CF-E6B8-EF64-9372C8E58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19D67-EB3D-E9A7-49D9-4406898D7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456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luis@gmail.co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9A3068-E219-2237-8A8F-B37D662DA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CO" sz="4800" b="1"/>
              <a:t>SQL Server Management Studio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1F4D83-DD47-A77D-A68B-4B595137D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s-MX" sz="2000"/>
              <a:t>Profesor Berman Moya Umaña.</a:t>
            </a:r>
            <a:endParaRPr lang="es-CO" sz="2000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B1FF23-5176-45CE-8BC8-1DB960C3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950060"/>
            <a:ext cx="6408836" cy="480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67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64AF2F-D457-9745-D1B3-3374306F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¿Qué es NULL?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E27D82-893E-A7B7-4818-823F2349F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B77AD9-01C2-8176-92F3-DB7F6FC03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NULL significa:</a:t>
            </a:r>
          </a:p>
          <a:p>
            <a:pPr marL="0" indent="0">
              <a:buNone/>
            </a:pPr>
            <a:r>
              <a:rPr lang="es-CO" b="1" dirty="0"/>
              <a:t>“No hay dato”</a:t>
            </a:r>
            <a:br>
              <a:rPr lang="es-CO" b="1" dirty="0"/>
            </a:br>
            <a:r>
              <a:rPr lang="es-CO" b="1" dirty="0"/>
              <a:t>“Dato desconocido”</a:t>
            </a:r>
            <a:br>
              <a:rPr lang="es-CO" b="1" dirty="0"/>
            </a:br>
            <a:r>
              <a:rPr lang="es-CO" b="1" dirty="0"/>
              <a:t>“Dato vacío”</a:t>
            </a:r>
          </a:p>
          <a:p>
            <a:pPr marL="0" indent="0">
              <a:buNone/>
            </a:pPr>
            <a:r>
              <a:rPr lang="es-CO" b="1" dirty="0"/>
              <a:t>IMPORTANTE:</a:t>
            </a:r>
            <a:br>
              <a:rPr lang="es-CO" b="1" dirty="0"/>
            </a:br>
            <a:r>
              <a:rPr lang="es-CO" b="1" dirty="0"/>
              <a:t>NULL NO es:</a:t>
            </a:r>
          </a:p>
          <a:p>
            <a:pPr marL="0" lvl="0" indent="0">
              <a:buNone/>
            </a:pPr>
            <a:r>
              <a:rPr lang="es-CO" b="1" dirty="0"/>
              <a:t>0 </a:t>
            </a:r>
          </a:p>
          <a:p>
            <a:pPr marL="0" lvl="0" indent="0">
              <a:buNone/>
            </a:pPr>
            <a:r>
              <a:rPr lang="es-CO" b="1" dirty="0"/>
              <a:t>vacío "" </a:t>
            </a:r>
          </a:p>
          <a:p>
            <a:pPr marL="0" lvl="0" indent="0">
              <a:buNone/>
            </a:pPr>
            <a:r>
              <a:rPr lang="es-CO" b="1" dirty="0"/>
              <a:t>falso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66074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0BB9D6-8139-56FE-759A-6A720276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sz="3100" b="1" dirty="0"/>
              <a:t>Ejemplo real en </a:t>
            </a:r>
            <a:r>
              <a:rPr lang="es-CO" sz="3100" b="1" dirty="0" err="1"/>
              <a:t>db_jardineria</a:t>
            </a:r>
            <a:r>
              <a:rPr lang="es-CO" sz="3100" b="1" dirty="0"/>
              <a:t>.</a:t>
            </a:r>
            <a:br>
              <a:rPr lang="es-CO" sz="3100" dirty="0"/>
            </a:br>
            <a:endParaRPr lang="es-CO" sz="31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BDFF1D-313B-AD07-F20C-FF703945E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2E088B-AD39-BDED-A174-E3EB81EFE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En la tabla cliente algunos clientes pueden no tener:</a:t>
            </a:r>
          </a:p>
          <a:p>
            <a:pPr marL="0" lvl="0" indent="0">
              <a:buNone/>
            </a:pPr>
            <a:r>
              <a:rPr lang="es-CO" b="1" dirty="0"/>
              <a:t>fax </a:t>
            </a:r>
          </a:p>
          <a:p>
            <a:pPr marL="0" lvl="0" indent="0">
              <a:buNone/>
            </a:pPr>
            <a:r>
              <a:rPr lang="es-CO" b="1" dirty="0"/>
              <a:t>región </a:t>
            </a:r>
          </a:p>
          <a:p>
            <a:pPr marL="0" lvl="0" indent="0">
              <a:buNone/>
            </a:pPr>
            <a:r>
              <a:rPr lang="es-CO" b="1" dirty="0"/>
              <a:t>representante de ventas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8067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A79903-F19E-7B74-0F27-675D075F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Detectar NULL con IS NULL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26F754-1E57-BD85-9B7C-8FC9AEFD0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A55644-440F-0E50-05D8-2CA5F2BAD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Caso:</a:t>
            </a:r>
          </a:p>
          <a:p>
            <a:pPr marL="0" indent="0">
              <a:buNone/>
            </a:pPr>
            <a:r>
              <a:rPr lang="es-CO" b="1" dirty="0"/>
              <a:t>“Mostrar clientes que NO tienen fax”</a:t>
            </a:r>
          </a:p>
          <a:p>
            <a:pPr marL="0" indent="0">
              <a:buNone/>
            </a:pPr>
            <a:r>
              <a:rPr lang="en-US" b="1" dirty="0"/>
              <a:t>SELECT </a:t>
            </a:r>
            <a:br>
              <a:rPr lang="en-US" b="1" dirty="0"/>
            </a:br>
            <a:r>
              <a:rPr lang="en-US" b="1" dirty="0"/>
              <a:t>    nombre_cliente,</a:t>
            </a:r>
            <a:br>
              <a:rPr lang="en-US" b="1" dirty="0"/>
            </a:br>
            <a:r>
              <a:rPr lang="en-US" b="1" dirty="0"/>
              <a:t>    fax</a:t>
            </a:r>
            <a:br>
              <a:rPr lang="en-US" b="1" dirty="0"/>
            </a:br>
            <a:r>
              <a:rPr lang="en-US" b="1" dirty="0"/>
              <a:t>FROM cliente</a:t>
            </a:r>
            <a:br>
              <a:rPr lang="en-US" b="1" dirty="0"/>
            </a:br>
            <a:r>
              <a:rPr lang="en-US" b="1" dirty="0"/>
              <a:t>WHERE fax IS NULL;</a:t>
            </a:r>
            <a:endParaRPr lang="es-CO" b="1" dirty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41373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338CF9-4158-6FA0-60B5-E92AB2E7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sz="4100" b="1"/>
              <a:t>Buscar valores que SÍ existen (IS NOT NULL).</a:t>
            </a:r>
            <a:endParaRPr lang="es-CO" sz="41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7184ED-A37C-2864-7117-851B48EA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B64D70-CF10-0251-5662-0988A7B66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“Clientes que sí tienen fax”</a:t>
            </a:r>
          </a:p>
          <a:p>
            <a:pPr marL="0" indent="0">
              <a:buNone/>
            </a:pPr>
            <a:r>
              <a:rPr lang="en-US" b="1" dirty="0"/>
              <a:t>SELECT </a:t>
            </a:r>
            <a:br>
              <a:rPr lang="en-US" b="1" dirty="0"/>
            </a:br>
            <a:r>
              <a:rPr lang="en-US" b="1" dirty="0"/>
              <a:t>    nombre_cliente,</a:t>
            </a:r>
            <a:br>
              <a:rPr lang="en-US" b="1" dirty="0"/>
            </a:br>
            <a:r>
              <a:rPr lang="en-US" b="1" dirty="0"/>
              <a:t>    fax</a:t>
            </a:r>
            <a:br>
              <a:rPr lang="en-US" b="1" dirty="0"/>
            </a:br>
            <a:r>
              <a:rPr lang="en-US" b="1" dirty="0"/>
              <a:t>FROM cliente</a:t>
            </a:r>
            <a:br>
              <a:rPr lang="en-US" b="1" dirty="0"/>
            </a:br>
            <a:r>
              <a:rPr lang="en-US" b="1" dirty="0"/>
              <a:t>WHERE fax IS NOT NULL;</a:t>
            </a:r>
            <a:endParaRPr lang="es-CO" b="1" dirty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22444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DE6084-2A10-5214-A97D-B68D7556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COALESCE (reemplazar NULL)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D987E5-311F-45CE-C2D9-5AC9A707C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D0DE83-912B-7C35-A8F0-52D43493E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¿Qué hace?</a:t>
            </a:r>
          </a:p>
          <a:p>
            <a:pPr marL="0" indent="0">
              <a:buNone/>
            </a:pPr>
            <a:r>
              <a:rPr lang="es-CO" b="1" dirty="0"/>
              <a:t>Reemplaza NULL por otro valor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4568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CA9467-AF11-337E-0E1A-A5D589D8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COALESCE (reemplazar NULL)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06DE9D-E82D-2851-2E5D-CA66BDA2C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0565FB-9853-BF6C-5007-497C23DD2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200" b="1"/>
              <a:t>Caso:</a:t>
            </a:r>
          </a:p>
          <a:p>
            <a:pPr marL="0" indent="0">
              <a:buNone/>
            </a:pPr>
            <a:r>
              <a:rPr lang="es-CO" sz="2200" b="1"/>
              <a:t>Mostrar “Sin Fax” cuando el fax sea NULL</a:t>
            </a:r>
          </a:p>
          <a:p>
            <a:pPr marL="0" indent="0">
              <a:buNone/>
            </a:pPr>
            <a:r>
              <a:rPr lang="es-CO" sz="2200" b="1"/>
              <a:t>SELECT </a:t>
            </a:r>
            <a:br>
              <a:rPr lang="es-CO" sz="2200" b="1"/>
            </a:br>
            <a:r>
              <a:rPr lang="es-CO" sz="2200" b="1"/>
              <a:t>    nombre_cliente,</a:t>
            </a:r>
            <a:br>
              <a:rPr lang="es-CO" sz="2200" b="1"/>
            </a:br>
            <a:r>
              <a:rPr lang="es-CO" sz="2200" b="1"/>
              <a:t>    COALESCE(fax, 'Sin Fax') AS fax_cliente</a:t>
            </a:r>
            <a:br>
              <a:rPr lang="es-CO" sz="2200" b="1"/>
            </a:br>
            <a:r>
              <a:rPr lang="es-CO" sz="2200" b="1"/>
              <a:t>FROM cliente;</a:t>
            </a:r>
          </a:p>
          <a:p>
            <a:pPr marL="0" indent="0">
              <a:buNone/>
            </a:pPr>
            <a:r>
              <a:rPr lang="es-CO" sz="2200" b="1"/>
              <a:t>Analogía </a:t>
            </a:r>
          </a:p>
          <a:p>
            <a:pPr marL="0" indent="0">
              <a:buNone/>
            </a:pPr>
            <a:r>
              <a:rPr lang="es-CO" sz="2200" b="1"/>
              <a:t>COALESCE dice:</a:t>
            </a:r>
          </a:p>
          <a:p>
            <a:pPr marL="0" indent="0">
              <a:buNone/>
            </a:pPr>
            <a:r>
              <a:rPr lang="es-CO" sz="2200" b="1"/>
              <a:t>“Si no hay dato, pon este otro”</a:t>
            </a:r>
          </a:p>
          <a:p>
            <a:pPr marL="0" indent="0">
              <a:buNone/>
            </a:pPr>
            <a:endParaRPr lang="es-CO" sz="2200"/>
          </a:p>
        </p:txBody>
      </p:sp>
    </p:spTree>
    <p:extLst>
      <p:ext uri="{BB962C8B-B14F-4D97-AF65-F5344CB8AC3E}">
        <p14:creationId xmlns:p14="http://schemas.microsoft.com/office/powerpoint/2010/main" val="1112163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521E12-393F-77D0-BCD3-A5AE3C528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COALESCE (reemplazar NULL)</a:t>
            </a:r>
            <a:endParaRPr lang="es-CO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3E4DA74-30A4-9301-1BEA-12E18E110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6020BF-1773-433E-2FBE-0CAEDAFD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Resultado</a:t>
            </a:r>
          </a:p>
          <a:p>
            <a:pPr marL="0" indent="0">
              <a:buNone/>
            </a:pPr>
            <a:r>
              <a:rPr lang="es-CO" b="1" dirty="0"/>
              <a:t>nombre_cliente    fax_cliente </a:t>
            </a:r>
          </a:p>
          <a:p>
            <a:pPr marL="0" indent="0">
              <a:buNone/>
            </a:pPr>
            <a:r>
              <a:rPr lang="es-CO" b="1" dirty="0"/>
              <a:t>Luis Garden 2222-2222</a:t>
            </a:r>
          </a:p>
          <a:p>
            <a:pPr marL="0" indent="0">
              <a:buNone/>
            </a:pPr>
            <a:r>
              <a:rPr lang="es-CO" b="1" dirty="0"/>
              <a:t>Flores CR  Sin Fax</a:t>
            </a:r>
          </a:p>
        </p:txBody>
      </p:sp>
    </p:spTree>
    <p:extLst>
      <p:ext uri="{BB962C8B-B14F-4D97-AF65-F5344CB8AC3E}">
        <p14:creationId xmlns:p14="http://schemas.microsoft.com/office/powerpoint/2010/main" val="874822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CE54A2-1B57-D07D-3717-D11D7143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COALESCE con números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4F2551-6723-38B2-7F7A-A70D3FC70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53AD96-90E7-5295-02BF-3FA9983DF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Caso:</a:t>
            </a:r>
          </a:p>
          <a:p>
            <a:pPr marL="0" indent="0">
              <a:buNone/>
            </a:pPr>
            <a:r>
              <a:rPr lang="es-CO" b="1" dirty="0"/>
              <a:t>Evitar NULL en cálculos</a:t>
            </a:r>
          </a:p>
          <a:p>
            <a:pPr marL="0" indent="0">
              <a:buNone/>
            </a:pPr>
            <a:r>
              <a:rPr lang="es-CO" b="1" dirty="0"/>
              <a:t>SELECT </a:t>
            </a:r>
            <a:br>
              <a:rPr lang="es-CO" b="1" dirty="0"/>
            </a:br>
            <a:r>
              <a:rPr lang="es-CO" b="1" dirty="0"/>
              <a:t>    codigo_cliente,</a:t>
            </a:r>
            <a:br>
              <a:rPr lang="es-CO" b="1" dirty="0"/>
            </a:br>
            <a:r>
              <a:rPr lang="es-CO" b="1" dirty="0"/>
              <a:t>    COALESCE(limite_credito, 0) AS credito</a:t>
            </a:r>
            <a:br>
              <a:rPr lang="es-CO" b="1" dirty="0"/>
            </a:br>
            <a:r>
              <a:rPr lang="es-CO" b="1" dirty="0"/>
              <a:t>FROM cliente;</a:t>
            </a:r>
          </a:p>
          <a:p>
            <a:pPr marL="0" indent="0">
              <a:buNone/>
            </a:pPr>
            <a:r>
              <a:rPr lang="es-CO" b="1" dirty="0"/>
              <a:t>Muy importante en reportes financieros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155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2E80D5-9717-0288-FD7F-17AC6F47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NULL en JOINs 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5BB180-59E4-E043-8EE5-1E853C0E9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C1B997-3FF5-091F-5360-D62934ECB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b="1" dirty="0"/>
              <a:t>Clientes sin representante de ventas</a:t>
            </a:r>
          </a:p>
          <a:p>
            <a:pPr marL="0" indent="0">
              <a:buNone/>
            </a:pPr>
            <a:r>
              <a:rPr lang="es-CO" sz="2400" b="1" dirty="0"/>
              <a:t>SELECT </a:t>
            </a:r>
            <a:br>
              <a:rPr lang="es-CO" sz="2400" b="1" dirty="0"/>
            </a:br>
            <a:r>
              <a:rPr lang="es-CO" sz="2400" b="1" dirty="0"/>
              <a:t>    c.nombre_cliente,</a:t>
            </a:r>
            <a:br>
              <a:rPr lang="es-CO" sz="2400" b="1" dirty="0"/>
            </a:br>
            <a:r>
              <a:rPr lang="es-CO" sz="2400" b="1" dirty="0"/>
              <a:t>    e.nombre</a:t>
            </a:r>
            <a:br>
              <a:rPr lang="es-CO" sz="2400" b="1" dirty="0"/>
            </a:br>
            <a:r>
              <a:rPr lang="es-CO" sz="2400" b="1" dirty="0"/>
              <a:t>FROM cliente c</a:t>
            </a:r>
            <a:br>
              <a:rPr lang="es-CO" sz="2400" b="1" dirty="0"/>
            </a:br>
            <a:r>
              <a:rPr lang="es-CO" sz="2400" b="1" dirty="0"/>
              <a:t>LEFT JOIN empleado e</a:t>
            </a:r>
            <a:br>
              <a:rPr lang="es-CO" sz="2400" b="1" dirty="0"/>
            </a:br>
            <a:r>
              <a:rPr lang="es-CO" sz="2400" b="1" dirty="0"/>
              <a:t>ON c.codigo_empleado_rep_ventas = e.codigo_empleado</a:t>
            </a:r>
            <a:br>
              <a:rPr lang="es-CO" sz="2400" b="1" dirty="0"/>
            </a:br>
            <a:r>
              <a:rPr lang="es-CO" sz="2400" b="1" dirty="0"/>
              <a:t>WHERE e.codigo_empleado IS NULL;</a:t>
            </a:r>
          </a:p>
          <a:p>
            <a:pPr marL="0" indent="0">
              <a:buNone/>
            </a:pP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063707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C51769-7BED-CE11-2F01-481309A80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NULL en JOINs 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667FB6-4745-770D-5515-4E38CCF13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7114CE-5437-9DE4-DD90-1B6995046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Explicación</a:t>
            </a:r>
          </a:p>
          <a:p>
            <a:pPr marL="0" indent="0">
              <a:buNone/>
            </a:pPr>
            <a:r>
              <a:rPr lang="es-CO" b="1" dirty="0"/>
              <a:t>Si no hay empleado relacionado:</a:t>
            </a:r>
          </a:p>
          <a:p>
            <a:pPr marL="0" lvl="0" indent="0">
              <a:buNone/>
            </a:pPr>
            <a:r>
              <a:rPr lang="es-CO" b="1" dirty="0"/>
              <a:t>LEFT JOIN genera NULL </a:t>
            </a:r>
          </a:p>
          <a:p>
            <a:pPr marL="0" lvl="0" indent="0">
              <a:buNone/>
            </a:pPr>
            <a:r>
              <a:rPr lang="es-CO" b="1" dirty="0"/>
              <a:t>luego filtramos con IS NULL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43527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026A08-B7B3-9BFA-093F-18E373C5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MX" b="1" dirty="0"/>
              <a:t>Que es un </a:t>
            </a:r>
            <a:r>
              <a:rPr lang="es-CO" b="1" dirty="0"/>
              <a:t>Dataset.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3B3523-326A-30E0-8EE8-6C5B5A4F4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0F90DC-6FAF-8D3E-894F-1F0F04ECD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Un dataset es un conjunto de datos organizados para poder analizarlos, consultarlos o trabajar con ellos en programas y bases de datos.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233355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24394F-DE3A-32B1-A88B-E6EDB6CD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Dataset profesional usando COALESCE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D4960C-5212-FA53-2FB5-CBF526B3F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33026B-5FB6-F99C-3DDC-8E3A1FBF2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Caso:</a:t>
            </a:r>
          </a:p>
          <a:p>
            <a:pPr marL="0" indent="0">
              <a:buNone/>
            </a:pPr>
            <a:r>
              <a:rPr lang="es-CO" b="1" dirty="0"/>
              <a:t>Crear reporte limpio</a:t>
            </a:r>
          </a:p>
          <a:p>
            <a:pPr marL="0" indent="0">
              <a:buNone/>
            </a:pPr>
            <a:r>
              <a:rPr lang="es-CO" b="1" dirty="0"/>
              <a:t>SELECT </a:t>
            </a:r>
            <a:br>
              <a:rPr lang="es-CO" b="1" dirty="0"/>
            </a:br>
            <a:r>
              <a:rPr lang="es-CO" b="1" dirty="0"/>
              <a:t>    nombre_cliente,</a:t>
            </a:r>
            <a:br>
              <a:rPr lang="es-CO" b="1" dirty="0"/>
            </a:br>
            <a:r>
              <a:rPr lang="es-CO" b="1" dirty="0"/>
              <a:t>    COALESCE(ciudad, 'Sin Ciudad') AS ciudad,</a:t>
            </a:r>
            <a:br>
              <a:rPr lang="es-CO" b="1" dirty="0"/>
            </a:br>
            <a:r>
              <a:rPr lang="es-CO" b="1" dirty="0"/>
              <a:t>    COALESCE(fax, 'No Registrado') AS fax</a:t>
            </a:r>
            <a:br>
              <a:rPr lang="es-CO" b="1" dirty="0"/>
            </a:br>
            <a:r>
              <a:rPr lang="es-CO" b="1" dirty="0"/>
              <a:t>FROM cliente;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910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FA0062-4A1E-9636-D238-8CBC7D4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sz="3700" b="1"/>
              <a:t>Detección y eliminación de duplicados.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76936D-8869-6444-3B2B-ADA8EF90F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164D5E-4E15-02CD-6D8F-CD0BB8BA4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¿Qué es un dato duplicado?</a:t>
            </a:r>
          </a:p>
          <a:p>
            <a:pPr marL="0" indent="0">
              <a:buNone/>
            </a:pPr>
            <a:r>
              <a:rPr lang="es-CO" b="1" dirty="0"/>
              <a:t>Un duplicado ocurre cuando:</a:t>
            </a:r>
          </a:p>
          <a:p>
            <a:pPr marL="0" lvl="0" indent="0">
              <a:buNone/>
            </a:pPr>
            <a:r>
              <a:rPr lang="es-CO" b="1" dirty="0"/>
              <a:t>un mismo dato aparece varias veces </a:t>
            </a:r>
          </a:p>
          <a:p>
            <a:pPr marL="0" lvl="0" indent="0">
              <a:buNone/>
            </a:pPr>
            <a:r>
              <a:rPr lang="es-CO" b="1" dirty="0"/>
              <a:t>y NO debería repetirse.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0129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22BE58-4E6F-3293-8B45-21273A34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sz="3100" b="1"/>
              <a:t>¿Por qué ocurren duplicados?</a:t>
            </a:r>
            <a:br>
              <a:rPr lang="es-CO" sz="3100"/>
            </a:br>
            <a:endParaRPr lang="es-CO" sz="31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ACB538-6712-A427-FFF4-8659C0780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8D022A-66F9-7E2F-8C58-5C694554C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Razón 1: JOINs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Un cliente puede tener muchos pedidos.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1 cliente muchos pedidos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Entonces el cliente aparece varias veces.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7244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6451C7-CD55-37A4-5590-8EC4249C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¿Por qué ocurren duplicados?</a:t>
            </a:r>
            <a:endParaRPr lang="es-CO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527929D-2CD6-FABB-767E-FEAFF277D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FD8A2A-7EC8-7777-B5ED-ACEE21AC8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Razón 2: Datos repetidos en la tabla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Ejemplo:</a:t>
            </a:r>
          </a:p>
          <a:p>
            <a:pPr marL="0" indent="0">
              <a:buNone/>
            </a:pPr>
            <a:r>
              <a:rPr lang="es-CO" b="1" dirty="0"/>
              <a:t>Email</a:t>
            </a:r>
          </a:p>
          <a:p>
            <a:pPr marL="0" indent="0">
              <a:buNone/>
            </a:pPr>
            <a:r>
              <a:rPr lang="es-CO" b="1" dirty="0">
                <a:hlinkClick r:id="rId3"/>
              </a:rPr>
              <a:t>luis@gmail.com</a:t>
            </a:r>
            <a:endParaRPr lang="es-CO" b="1" dirty="0"/>
          </a:p>
          <a:p>
            <a:pPr marL="0" indent="0">
              <a:buNone/>
            </a:pPr>
            <a:r>
              <a:rPr lang="es-CO" b="1" dirty="0">
                <a:hlinkClick r:id="rId3"/>
              </a:rPr>
              <a:t>luis@gmail.com</a:t>
            </a:r>
            <a:endParaRPr lang="es-CO" b="1" dirty="0"/>
          </a:p>
          <a:p>
            <a:pPr marL="0" indent="0">
              <a:buNone/>
            </a:pPr>
            <a:r>
              <a:rPr lang="es-CO" b="1" dirty="0"/>
              <a:t>Problema de calidad de datos.</a:t>
            </a:r>
            <a:endParaRPr lang="es-CO" dirty="0"/>
          </a:p>
          <a:p>
            <a:pPr marL="0" indent="0">
              <a:buNone/>
            </a:pP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28616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1C9042-8AB5-2B5F-4F66-998AF8E43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¿Por qué ocurren duplicados?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C8ACF8-E632-E565-2EA4-05C3B6D6E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4394F5-9816-DE95-0F7F-5E83731D9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b="1" dirty="0"/>
              <a:t>Detectar duplicados con GROUP BY</a:t>
            </a:r>
          </a:p>
          <a:p>
            <a:pPr marL="0" indent="0">
              <a:buNone/>
            </a:pPr>
            <a:r>
              <a:rPr lang="es-CO" sz="2400" b="1" dirty="0"/>
              <a:t>Caso:</a:t>
            </a:r>
            <a:endParaRPr lang="es-CO" sz="2400" dirty="0"/>
          </a:p>
          <a:p>
            <a:pPr marL="0" indent="0">
              <a:buNone/>
            </a:pPr>
            <a:r>
              <a:rPr lang="es-CO" sz="2400" b="1" dirty="0"/>
              <a:t>Buscar clientes repetidos por nombre.</a:t>
            </a:r>
            <a:endParaRPr lang="es-CO" sz="2400" dirty="0"/>
          </a:p>
          <a:p>
            <a:pPr marL="0" indent="0">
              <a:buNone/>
            </a:pPr>
            <a:r>
              <a:rPr lang="en-US" sz="2400" b="1" dirty="0"/>
              <a:t>SELECT </a:t>
            </a:r>
            <a:br>
              <a:rPr lang="en-US" sz="2400" b="1" dirty="0"/>
            </a:br>
            <a:r>
              <a:rPr lang="en-US" sz="2400" b="1" dirty="0"/>
              <a:t>    nombre_cliente,</a:t>
            </a:r>
            <a:br>
              <a:rPr lang="en-US" sz="2400" b="1" dirty="0"/>
            </a:br>
            <a:r>
              <a:rPr lang="en-US" sz="2400" b="1" dirty="0"/>
              <a:t>    COUNT(*) AS cantidad</a:t>
            </a:r>
            <a:br>
              <a:rPr lang="en-US" sz="2400" b="1" dirty="0"/>
            </a:br>
            <a:r>
              <a:rPr lang="en-US" sz="2400" b="1" dirty="0"/>
              <a:t>FROM cliente</a:t>
            </a:r>
            <a:br>
              <a:rPr lang="en-US" sz="2400" b="1" dirty="0"/>
            </a:br>
            <a:r>
              <a:rPr lang="en-US" sz="2400" b="1" dirty="0"/>
              <a:t>GROUP BY nombre_cliente</a:t>
            </a:r>
            <a:br>
              <a:rPr lang="en-US" sz="2400" b="1" dirty="0"/>
            </a:br>
            <a:r>
              <a:rPr lang="en-US" sz="2400" b="1" dirty="0"/>
              <a:t>HAVING COUNT(*) &gt; 1;</a:t>
            </a:r>
            <a:endParaRPr lang="es-CO" sz="2400" dirty="0"/>
          </a:p>
          <a:p>
            <a:pPr marL="0" indent="0">
              <a:buNone/>
            </a:pP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556018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DE66BB-572E-246C-CA24-99FE83B23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¿Por qué ocurren duplicados?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02293F-68A6-205D-8649-AE54CC43C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610B77-CA12-D9E9-2034-03C12D8DD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Explicación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GROUP BY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Agrupa registros iguales.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COUNT(*)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Cuenta cuántas veces aparece.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HAVING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Filtra grupos.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23459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8A1E10-7D4C-6BBB-C870-F765A6472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sz="3400" b="1" dirty="0"/>
              <a:t>Eliminar duplicados visualmente con DISTINCT.</a:t>
            </a:r>
            <a:endParaRPr lang="es-CO" sz="34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3961CD-FA72-3B72-5BCE-E067D5701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5C862E-F36D-3469-8C07-9E9410377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Caso: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Mostrar clientes sin repetir.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SELECT DISTINCT nombre_cliente</a:t>
            </a:r>
            <a:br>
              <a:rPr lang="es-CO" b="1" dirty="0"/>
            </a:br>
            <a:r>
              <a:rPr lang="es-CO" b="1" dirty="0"/>
              <a:t>FROM cliente;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44303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6FF2F5-F1F4-6993-C095-DA7D449E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sz="3400" b="1"/>
              <a:t>Eliminar duplicados visualmente con DISTINCT.</a:t>
            </a:r>
            <a:endParaRPr lang="es-CO" sz="34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45A6D8-7C7F-AD1C-6DDE-E0A2B6BA0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447965-58D3-2387-AA72-DB0F4B552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Explicación 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DISTINCT dice: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“Si el dato ya salió, no lo repitas”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42892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9F1AB3-4E0B-3313-A257-317BE3DAC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b="1" dirty="0"/>
              <a:t>Normalización básica y buenas prácticas de diseño.</a:t>
            </a:r>
            <a:endParaRPr lang="es-CO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EE44AD-D328-9AAC-F5DE-BCD6BB3B5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¿Qué es normalización?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La normalización es un proceso para: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organizar datos correctamente</a:t>
            </a:r>
            <a:br>
              <a:rPr lang="es-CO" b="1" dirty="0"/>
            </a:br>
            <a:r>
              <a:rPr lang="es-CO" b="1" dirty="0"/>
              <a:t>evitar duplicados</a:t>
            </a:r>
            <a:br>
              <a:rPr lang="es-CO" b="1" dirty="0"/>
            </a:br>
            <a:r>
              <a:rPr lang="es-CO" b="1" dirty="0"/>
              <a:t>reducir errores</a:t>
            </a:r>
            <a:br>
              <a:rPr lang="es-CO" b="1" dirty="0"/>
            </a:br>
            <a:r>
              <a:rPr lang="es-CO" b="1" dirty="0"/>
              <a:t>mejorar integridad de la información</a:t>
            </a:r>
          </a:p>
          <a:p>
            <a:pPr marL="0" indent="0">
              <a:buNone/>
            </a:pPr>
            <a:r>
              <a:rPr lang="es-CO" b="1" dirty="0"/>
              <a:t>Objetivo principal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“Guardar la información una sola vez y relacionarla correctamente”</a:t>
            </a:r>
            <a:endParaRPr lang="es-CO" dirty="0"/>
          </a:p>
          <a:p>
            <a:pPr marL="0" indent="0">
              <a:buNone/>
            </a:pP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66505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665</Words>
  <Application>Microsoft Office PowerPoint</Application>
  <PresentationFormat>Panorámica</PresentationFormat>
  <Paragraphs>99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Tema de Office</vt:lpstr>
      <vt:lpstr>SQL Server Management Studio</vt:lpstr>
      <vt:lpstr>¿Qué es NULL?</vt:lpstr>
      <vt:lpstr>Ejemplo real en db_jardineria. </vt:lpstr>
      <vt:lpstr>Detectar NULL con IS NULL</vt:lpstr>
      <vt:lpstr>Buscar valores que SÍ existen (IS NOT NULL).</vt:lpstr>
      <vt:lpstr>COALESCE (reemplazar NULL)</vt:lpstr>
      <vt:lpstr>COALESCE (reemplazar NULL)</vt:lpstr>
      <vt:lpstr>COALESCE (reemplazar NULL)</vt:lpstr>
      <vt:lpstr>COALESCE con números</vt:lpstr>
      <vt:lpstr>NULL en JOINs </vt:lpstr>
      <vt:lpstr>NULL en JOINs </vt:lpstr>
      <vt:lpstr>Que es un Dataset.</vt:lpstr>
      <vt:lpstr>Dataset profesional usando COALESCE</vt:lpstr>
      <vt:lpstr>Detección y eliminación de duplicados.</vt:lpstr>
      <vt:lpstr>¿Por qué ocurren duplicados? </vt:lpstr>
      <vt:lpstr>¿Por qué ocurren duplicados?</vt:lpstr>
      <vt:lpstr>¿Por qué ocurren duplicados?</vt:lpstr>
      <vt:lpstr>¿Por qué ocurren duplicados?</vt:lpstr>
      <vt:lpstr>Eliminar duplicados visualmente con DISTINCT.</vt:lpstr>
      <vt:lpstr>Eliminar duplicados visualmente con DISTINCT.</vt:lpstr>
      <vt:lpstr>Normalización básica y buenas prácticas de diseño.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Berman Alonso Moya Umaña</dc:creator>
  <cp:lastModifiedBy>Berman Alonso Moya Umaña</cp:lastModifiedBy>
  <cp:revision>33</cp:revision>
  <dcterms:created xsi:type="dcterms:W3CDTF">2026-04-14T23:49:13Z</dcterms:created>
  <dcterms:modified xsi:type="dcterms:W3CDTF">2026-05-13T02:25:02Z</dcterms:modified>
</cp:coreProperties>
</file>