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2ECD5-6174-45B8-48A5-DC65CCA19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818714-6668-02EF-0BE7-EFAE6C002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45956F-8766-C104-511A-92A7EECD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85ED6-F911-EBCC-E362-B3BD25B9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8A2067-2C84-9C9A-5362-A615C8D1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523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D6E38-5D86-2275-4847-C5F8EAAB1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EED1FF-BEC6-B65B-48FE-7B31169A0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558D68-CD7C-83AF-C335-5BE674FB6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057A66-D406-86ED-806E-F017912D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AE242-88F9-292D-C9DC-D5C80A85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617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83F93-E263-9F8C-1A6B-9C2851C7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8171CC-1D06-E3A7-6E73-E938DF286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29445F-B43E-ADAB-354C-06F06CBE1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D12FD3-0226-7E43-FC40-42F701AA3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60B36B-07A7-B835-9706-3A1617C6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3819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608E0-B185-D981-3147-1229E934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6DE92E-77BE-5563-6A5B-1817396EA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8D8A6B-DA18-FDEF-6A3D-DF9C8F579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1CAA43-C6EC-6C5B-4D7E-A4A2DF6D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60F230-750F-6DE7-C0A7-B6C710877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6D08C9-85A9-F816-5508-B5162A06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842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989D25-A4F9-6DB4-B978-3476B14C9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670492-A359-E547-3894-3591DAA65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3C68F3-B68E-EA41-1746-1926D7538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A2F3125-CFF6-82E0-0F8F-E2CAE9C36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93EEDC-19F4-DE0F-AEF0-709BF14E66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6BF7DA0-9C20-8967-FE32-3436791E1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62278C3-087F-37E9-7649-36AA16C9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DE3ED5E-51D5-0BB4-A155-E493BD09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686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A878C-2B32-F7C9-4371-C65C5583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1E515D-9C5D-FBB8-FD0D-C6392EAEE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CAD9D7-94E1-2353-12C8-D07608797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05DA9B-C6CD-BC5E-C863-D569EA8B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639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A09F30-1B2D-3F1C-97D0-02980ABE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CF54E0E-CF14-D4D2-AD34-B74A618F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746402-4357-7BAE-BF4D-3E3BDD64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9721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3B3AE-2076-9F41-1F4E-EE5BB74BA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578AC6-6C33-F6C9-973F-20F739FC1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7F78BA-3DB1-7686-F3A3-AA7CD7879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7DC2F2-1C5B-E7D1-90AC-63DFBED1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43AB5E-8BD8-1848-AC13-05DA20EB7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3AE851-D0C7-8F0E-F731-96747889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8288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F5D4E-16F5-1327-9ABC-9BE4329F8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A5B5F01-859B-438C-125A-05E5B9F9C3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5A4931-8A69-55A8-F86A-F7CBCE7FC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FB643B-35BA-AC53-54FA-DD00F14D7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CACA5-07FA-DB0B-38A5-F1463FCBC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D406C6-7240-A5F8-52C0-C9CB038F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2274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DC521-7317-9EE7-829E-7D21CCC59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230A5C-37BC-4EC0-DC02-72D098B72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4AC0C3-C73A-84D1-419D-FDAF9E83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C53995-BA09-9F9F-7706-1A76F614A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75D7C7-4FBD-E8D1-2374-24B5806A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331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380A01-2966-E65F-DD0A-059870FFF2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2F6883-BA22-BF34-D5A7-E186D1AEF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56FAB3-3918-4BF6-6977-2F674811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94FFF2-DE1B-497D-21D2-D5C73AF5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887700-0DDA-6822-BD48-FEFFE74D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4053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15AB8A-585B-A85E-94D6-D359638A7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5B79BA-371E-4E5E-3B6D-B04BF5007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E602C5-B239-EE35-C95E-497AE3991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9D72B-C289-4FA2-A7A6-285C7A564C03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12A4DD-04CF-E6B8-EF64-9372C8E58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719D67-EB3D-E9A7-49D9-4406898D7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456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9A3068-E219-2237-8A8F-B37D662DA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s-CO" sz="4800" b="1"/>
              <a:t>SQL Server Management Studio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1F4D83-DD47-A77D-A68B-4B595137DF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r>
              <a:rPr lang="es-MX" sz="2000"/>
              <a:t>Profesor Berman Moya Umaña.</a:t>
            </a:r>
            <a:endParaRPr lang="es-CO" sz="2000"/>
          </a:p>
        </p:txBody>
      </p:sp>
      <p:sp>
        <p:nvSpPr>
          <p:cNvPr id="27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6B1FF23-5176-45CE-8BC8-1DB960C32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56" y="950060"/>
            <a:ext cx="6408836" cy="480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467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0D5956-E9A5-26F9-ED66-3C9ECFA8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CO" sz="3600" b="1">
                <a:solidFill>
                  <a:schemeClr val="tx2"/>
                </a:solidFill>
              </a:rPr>
              <a:t>¿Qué es un JOIN?</a:t>
            </a:r>
            <a:br>
              <a:rPr lang="es-CO" sz="3600">
                <a:solidFill>
                  <a:schemeClr val="tx2"/>
                </a:solidFill>
              </a:rPr>
            </a:br>
            <a:endParaRPr lang="es-CO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ADB2E8-6532-B897-26A3-D205FF407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Un JOIN en SQL Server sirve para unir datos de varias tablas usando una relación común (normalmente una clave).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Analogía simple:</a:t>
            </a:r>
            <a:endParaRPr lang="es-CO" sz="180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Tabla 1 = Lista de clientes </a:t>
            </a:r>
            <a:endParaRPr lang="es-CO" sz="180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Tabla 2 = Lista de pedidos </a:t>
            </a:r>
            <a:endParaRPr lang="es-CO" sz="180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JOIN = “cruzar información” para saber qué cliente hizo qué pedido</a:t>
            </a:r>
            <a:endParaRPr lang="es-CO" sz="1800">
              <a:solidFill>
                <a:schemeClr val="tx2"/>
              </a:solidFill>
            </a:endParaRPr>
          </a:p>
          <a:p>
            <a:endParaRPr lang="es-CO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C540184-4FBF-4781-7EE7-D879C6A2C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337435"/>
            <a:ext cx="4142232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22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0B9FFE-3A77-0A2B-BBDD-EC2DD5402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CO" sz="3600" b="1">
                <a:solidFill>
                  <a:schemeClr val="tx2"/>
                </a:solidFill>
              </a:rPr>
              <a:t>INNER JOIN</a:t>
            </a:r>
            <a:br>
              <a:rPr lang="es-CO" sz="3600">
                <a:solidFill>
                  <a:schemeClr val="tx2"/>
                </a:solidFill>
              </a:rPr>
            </a:br>
            <a:endParaRPr lang="es-CO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BFCE16-62F9-C059-6D57-3EF9EA8E6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¿Qué hace?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Devuelve solo los datos que coinciden en ambas tablas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Analogía: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“Solo los clientes que sí han comprado algo”</a:t>
            </a:r>
            <a:endParaRPr lang="es-CO" sz="1800">
              <a:solidFill>
                <a:schemeClr val="tx2"/>
              </a:solidFill>
            </a:endParaRPr>
          </a:p>
          <a:p>
            <a:endParaRPr lang="es-CO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73F346D1-3FB8-17BA-567A-7CB17CF6F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337435"/>
            <a:ext cx="4142232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40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23BAF2-8CCE-B902-F017-CBB885C73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CO" sz="3600" b="1">
                <a:solidFill>
                  <a:schemeClr val="tx2"/>
                </a:solidFill>
              </a:rPr>
              <a:t>INNER JOIN</a:t>
            </a:r>
            <a:endParaRPr lang="es-CO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AF12D7-E2CB-3CE3-FD9A-47C44AC36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O" sz="1800" b="1" dirty="0">
                <a:solidFill>
                  <a:schemeClr val="tx2"/>
                </a:solidFill>
              </a:rPr>
              <a:t>Ejemplo</a:t>
            </a:r>
            <a:endParaRPr lang="es-CO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 dirty="0">
                <a:solidFill>
                  <a:schemeClr val="tx2"/>
                </a:solidFill>
              </a:rPr>
              <a:t>SELECT </a:t>
            </a:r>
            <a:r>
              <a:rPr lang="es-CO" sz="1800" b="1" dirty="0" err="1">
                <a:solidFill>
                  <a:schemeClr val="tx2"/>
                </a:solidFill>
              </a:rPr>
              <a:t>Clientes.Nombre</a:t>
            </a:r>
            <a:r>
              <a:rPr lang="es-CO" sz="1800" b="1" dirty="0">
                <a:solidFill>
                  <a:schemeClr val="tx2"/>
                </a:solidFill>
              </a:rPr>
              <a:t>, </a:t>
            </a:r>
            <a:r>
              <a:rPr lang="es-CO" sz="1800" b="1" dirty="0" err="1">
                <a:solidFill>
                  <a:schemeClr val="tx2"/>
                </a:solidFill>
              </a:rPr>
              <a:t>Pedidos.Producto</a:t>
            </a:r>
            <a:br>
              <a:rPr lang="es-CO" sz="1800" b="1" dirty="0">
                <a:solidFill>
                  <a:schemeClr val="tx2"/>
                </a:solidFill>
              </a:rPr>
            </a:br>
            <a:r>
              <a:rPr lang="es-CO" sz="1800" b="1" dirty="0">
                <a:solidFill>
                  <a:schemeClr val="tx2"/>
                </a:solidFill>
              </a:rPr>
              <a:t>FROM Clientes</a:t>
            </a:r>
            <a:br>
              <a:rPr lang="es-CO" sz="1800" b="1" dirty="0">
                <a:solidFill>
                  <a:schemeClr val="tx2"/>
                </a:solidFill>
              </a:rPr>
            </a:br>
            <a:r>
              <a:rPr lang="es-CO" sz="1800" b="1" dirty="0">
                <a:solidFill>
                  <a:schemeClr val="tx2"/>
                </a:solidFill>
              </a:rPr>
              <a:t>INNER JOIN Pedidos</a:t>
            </a:r>
            <a:br>
              <a:rPr lang="es-CO" sz="1800" b="1" dirty="0">
                <a:solidFill>
                  <a:schemeClr val="tx2"/>
                </a:solidFill>
              </a:rPr>
            </a:br>
            <a:r>
              <a:rPr lang="es-CO" sz="1800" b="1" dirty="0">
                <a:solidFill>
                  <a:schemeClr val="tx2"/>
                </a:solidFill>
              </a:rPr>
              <a:t>ON </a:t>
            </a:r>
            <a:r>
              <a:rPr lang="es-CO" sz="1800" b="1" dirty="0" err="1">
                <a:solidFill>
                  <a:schemeClr val="tx2"/>
                </a:solidFill>
              </a:rPr>
              <a:t>Clientes.ClienteID</a:t>
            </a:r>
            <a:r>
              <a:rPr lang="es-CO" sz="1800" b="1" dirty="0">
                <a:solidFill>
                  <a:schemeClr val="tx2"/>
                </a:solidFill>
              </a:rPr>
              <a:t> = </a:t>
            </a:r>
            <a:r>
              <a:rPr lang="es-CO" sz="1800" b="1" dirty="0" err="1">
                <a:solidFill>
                  <a:schemeClr val="tx2"/>
                </a:solidFill>
              </a:rPr>
              <a:t>Pedidos.ClienteID</a:t>
            </a:r>
            <a:r>
              <a:rPr lang="es-CO" sz="1800" b="1" dirty="0">
                <a:solidFill>
                  <a:schemeClr val="tx2"/>
                </a:solidFill>
              </a:rPr>
              <a:t>;</a:t>
            </a:r>
            <a:endParaRPr lang="es-CO" sz="1800" dirty="0">
              <a:solidFill>
                <a:schemeClr val="tx2"/>
              </a:solidFill>
            </a:endParaRPr>
          </a:p>
          <a:p>
            <a:endParaRPr lang="es-CO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D2BB8650-84D3-60E2-46FE-FC935AF0F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337435"/>
            <a:ext cx="4142232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58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48AD69-F213-3FDE-0C7F-D3EE6A3F8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CO" sz="3600" b="1">
                <a:solidFill>
                  <a:schemeClr val="tx2"/>
                </a:solidFill>
              </a:rPr>
              <a:t>LEFT JOIN</a:t>
            </a:r>
            <a:br>
              <a:rPr lang="es-CO" sz="3600">
                <a:solidFill>
                  <a:schemeClr val="tx2"/>
                </a:solidFill>
              </a:rPr>
            </a:br>
            <a:endParaRPr lang="es-CO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DEA5E1-DBCF-758B-16C0-A804C72FB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¿Qué hace?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Devuelve TODOS los datos de la tabla izquierda + coincidencias de la derecha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Analogía: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“Mostrar todos los clientes, aunque no hayan comprado”</a:t>
            </a:r>
            <a:endParaRPr lang="es-CO" sz="1800">
              <a:solidFill>
                <a:schemeClr val="tx2"/>
              </a:solidFill>
            </a:endParaRPr>
          </a:p>
          <a:p>
            <a:endParaRPr lang="es-CO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DB8449F2-E60F-9F1A-885C-3F9513CA3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337435"/>
            <a:ext cx="4142232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76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70E999-6B8E-1174-2896-3EC8DAF11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CO" sz="3600" b="1">
                <a:solidFill>
                  <a:schemeClr val="tx2"/>
                </a:solidFill>
              </a:rPr>
              <a:t>LEFT JOIN</a:t>
            </a:r>
            <a:br>
              <a:rPr lang="es-CO" sz="3600">
                <a:solidFill>
                  <a:schemeClr val="tx2"/>
                </a:solidFill>
              </a:rPr>
            </a:br>
            <a:endParaRPr lang="es-CO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F82163-4E07-AD58-3711-F4365A651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Ejemplo: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SELECT Clientes.Nombre, Pedidos.Producto</a:t>
            </a:r>
            <a:br>
              <a:rPr lang="es-CO" sz="1800" b="1">
                <a:solidFill>
                  <a:schemeClr val="tx2"/>
                </a:solidFill>
              </a:rPr>
            </a:br>
            <a:r>
              <a:rPr lang="es-CO" sz="1800" b="1">
                <a:solidFill>
                  <a:schemeClr val="tx2"/>
                </a:solidFill>
              </a:rPr>
              <a:t>FROM Clientes</a:t>
            </a:r>
            <a:br>
              <a:rPr lang="es-CO" sz="1800" b="1">
                <a:solidFill>
                  <a:schemeClr val="tx2"/>
                </a:solidFill>
              </a:rPr>
            </a:br>
            <a:r>
              <a:rPr lang="es-CO" sz="1800" b="1">
                <a:solidFill>
                  <a:schemeClr val="tx2"/>
                </a:solidFill>
              </a:rPr>
              <a:t>LEFT JOIN Pedidos</a:t>
            </a:r>
            <a:br>
              <a:rPr lang="es-CO" sz="1800" b="1">
                <a:solidFill>
                  <a:schemeClr val="tx2"/>
                </a:solidFill>
              </a:rPr>
            </a:br>
            <a:r>
              <a:rPr lang="es-CO" sz="1800" b="1">
                <a:solidFill>
                  <a:schemeClr val="tx2"/>
                </a:solidFill>
              </a:rPr>
              <a:t>ON Clientes.ClienteID = Pedidos.ClienteID;</a:t>
            </a:r>
            <a:endParaRPr lang="es-CO" sz="1800">
              <a:solidFill>
                <a:schemeClr val="tx2"/>
              </a:solidFill>
            </a:endParaRPr>
          </a:p>
          <a:p>
            <a:endParaRPr lang="es-CO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94EDC3F8-62AD-B19F-AE80-6DABD7658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337435"/>
            <a:ext cx="4142232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09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570ACD-0E77-4E4A-C9A9-A7CB9E544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CO" sz="3600" b="1" dirty="0">
                <a:solidFill>
                  <a:schemeClr val="tx2"/>
                </a:solidFill>
              </a:rPr>
              <a:t>RIGHT JOIN</a:t>
            </a:r>
            <a:br>
              <a:rPr lang="es-CO" sz="3600" dirty="0">
                <a:solidFill>
                  <a:schemeClr val="tx2"/>
                </a:solidFill>
              </a:rPr>
            </a:br>
            <a:endParaRPr lang="es-CO" sz="3600" dirty="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B01E66-9497-D252-76FC-E03CD7FD7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¿Qué hace?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Devuelve TODOS los datos de la tabla derecha + coincidencias de la izquierda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Analogía: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“Mostrar todos los pedidos, aunque no tengan cliente (raro, pero posible)”</a:t>
            </a:r>
            <a:endParaRPr lang="es-CO" sz="1800">
              <a:solidFill>
                <a:schemeClr val="tx2"/>
              </a:solidFill>
            </a:endParaRPr>
          </a:p>
          <a:p>
            <a:endParaRPr lang="es-CO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62411C02-6B05-AA38-3D9B-9F63BD51E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337435"/>
            <a:ext cx="4142232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61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1D71D3-90A4-3322-C8CA-7C16A8B1A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CO" sz="3600" b="1">
                <a:solidFill>
                  <a:schemeClr val="tx2"/>
                </a:solidFill>
              </a:rPr>
              <a:t>RIGHT JOIN</a:t>
            </a:r>
            <a:br>
              <a:rPr lang="es-CO" sz="3600">
                <a:solidFill>
                  <a:schemeClr val="tx2"/>
                </a:solidFill>
              </a:rPr>
            </a:br>
            <a:endParaRPr lang="es-CO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C74ADF-0073-0619-CFE6-FB63F82BC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Ejemplo: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SELECT Clientes.Nombre, Pedidos.Producto</a:t>
            </a:r>
            <a:br>
              <a:rPr lang="es-CO" sz="1800" b="1">
                <a:solidFill>
                  <a:schemeClr val="tx2"/>
                </a:solidFill>
              </a:rPr>
            </a:br>
            <a:r>
              <a:rPr lang="es-CO" sz="1800" b="1">
                <a:solidFill>
                  <a:schemeClr val="tx2"/>
                </a:solidFill>
              </a:rPr>
              <a:t>FROM Clientes</a:t>
            </a:r>
            <a:br>
              <a:rPr lang="es-CO" sz="1800" b="1">
                <a:solidFill>
                  <a:schemeClr val="tx2"/>
                </a:solidFill>
              </a:rPr>
            </a:br>
            <a:r>
              <a:rPr lang="es-CO" sz="1800" b="1">
                <a:solidFill>
                  <a:schemeClr val="tx2"/>
                </a:solidFill>
              </a:rPr>
              <a:t>RIGHT JOIN Pedidos</a:t>
            </a:r>
            <a:br>
              <a:rPr lang="es-CO" sz="1800" b="1">
                <a:solidFill>
                  <a:schemeClr val="tx2"/>
                </a:solidFill>
              </a:rPr>
            </a:br>
            <a:r>
              <a:rPr lang="es-CO" sz="1800" b="1">
                <a:solidFill>
                  <a:schemeClr val="tx2"/>
                </a:solidFill>
              </a:rPr>
              <a:t>ON Clientes.ClienteID = Pedidos.ClienteID;</a:t>
            </a:r>
            <a:endParaRPr lang="es-CO" sz="1800">
              <a:solidFill>
                <a:schemeClr val="tx2"/>
              </a:solidFill>
            </a:endParaRPr>
          </a:p>
          <a:p>
            <a:endParaRPr lang="es-CO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C09C1B9B-B672-CEF4-A162-5E058A46B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337435"/>
            <a:ext cx="4142232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439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5FF784-B3CA-B1DF-9040-253CEA00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CO" sz="3600" b="1">
                <a:solidFill>
                  <a:schemeClr val="tx2"/>
                </a:solidFill>
              </a:rPr>
              <a:t>Resumen rápido.</a:t>
            </a:r>
            <a:br>
              <a:rPr lang="es-CO" sz="3600">
                <a:solidFill>
                  <a:schemeClr val="tx2"/>
                </a:solidFill>
              </a:rPr>
            </a:br>
            <a:endParaRPr lang="es-CO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C9523F-8E06-67E1-A5AF-CA81C494B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6780351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O" sz="2400" b="1" dirty="0">
                <a:solidFill>
                  <a:schemeClr val="tx2"/>
                </a:solidFill>
              </a:rPr>
              <a:t>INNER JOIN Solo coincidencias.</a:t>
            </a:r>
          </a:p>
          <a:p>
            <a:pPr marL="0" indent="0">
              <a:buNone/>
            </a:pPr>
            <a:r>
              <a:rPr lang="es-CO" sz="2400" b="1" dirty="0">
                <a:solidFill>
                  <a:schemeClr val="tx2"/>
                </a:solidFill>
              </a:rPr>
              <a:t>LEFT JOIN     Todo izquierda + coincidencias.</a:t>
            </a:r>
          </a:p>
          <a:p>
            <a:pPr marL="0" indent="0">
              <a:buNone/>
            </a:pPr>
            <a:r>
              <a:rPr lang="es-CO" sz="2400" b="1" dirty="0">
                <a:solidFill>
                  <a:schemeClr val="tx2"/>
                </a:solidFill>
              </a:rPr>
              <a:t>RIGHT JOIN Todo derecha + coincidencias.</a:t>
            </a:r>
          </a:p>
          <a:p>
            <a:pPr marL="0" indent="0">
              <a:buNone/>
            </a:pPr>
            <a:endParaRPr lang="es-CO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5F879785-0384-1CEC-6DA0-5EE7A81E3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337435"/>
            <a:ext cx="4142232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69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87836C-40E9-48AD-7398-0BEDD5127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CO" sz="3300" b="1">
                <a:solidFill>
                  <a:schemeClr val="tx2"/>
                </a:solidFill>
              </a:rPr>
              <a:t>¿Qué significa “construir un dataset”?</a:t>
            </a:r>
            <a:br>
              <a:rPr lang="es-CO" sz="3300">
                <a:solidFill>
                  <a:schemeClr val="tx2"/>
                </a:solidFill>
              </a:rPr>
            </a:br>
            <a:endParaRPr lang="es-CO" sz="33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C3A3E8-45F2-096A-0A6B-4C7E48AA0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Crear una tabla lógica (resultado) a partir de varias tablas relacionadas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En la vida real:</a:t>
            </a:r>
            <a:endParaRPr lang="es-CO" sz="180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No trabajas con una sola tabla </a:t>
            </a:r>
            <a:endParaRPr lang="es-CO" sz="180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Trabajas con clientes + pedidos + productos + pagos.</a:t>
            </a:r>
            <a:endParaRPr lang="es-CO" sz="1800">
              <a:solidFill>
                <a:schemeClr val="tx2"/>
              </a:solidFill>
            </a:endParaRPr>
          </a:p>
          <a:p>
            <a:endParaRPr lang="es-CO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373000DD-ECAE-DDAE-6B59-BB59D1D9A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337435"/>
            <a:ext cx="4142232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182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D5A9B9-E4F9-6229-ABCE-86562C4CD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CO" sz="3600" b="1">
                <a:solidFill>
                  <a:schemeClr val="tx2"/>
                </a:solidFill>
              </a:rPr>
              <a:t>Construir un dataset.</a:t>
            </a:r>
            <a:endParaRPr lang="es-CO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C9A9B4-B2AC-8D9D-E311-23A1673EF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Paso 1: Clientes + Pedidos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SELECT c.Nombre, p.PedidoID, p.Fecha</a:t>
            </a:r>
            <a:br>
              <a:rPr lang="es-CO" sz="1800" b="1">
                <a:solidFill>
                  <a:schemeClr val="tx2"/>
                </a:solidFill>
              </a:rPr>
            </a:br>
            <a:r>
              <a:rPr lang="es-CO" sz="1800" b="1">
                <a:solidFill>
                  <a:schemeClr val="tx2"/>
                </a:solidFill>
              </a:rPr>
              <a:t>FROM Clientes c</a:t>
            </a:r>
            <a:br>
              <a:rPr lang="es-CO" sz="1800" b="1">
                <a:solidFill>
                  <a:schemeClr val="tx2"/>
                </a:solidFill>
              </a:rPr>
            </a:br>
            <a:r>
              <a:rPr lang="es-CO" sz="1800" b="1">
                <a:solidFill>
                  <a:schemeClr val="tx2"/>
                </a:solidFill>
              </a:rPr>
              <a:t>INNER JOIN Pedidos p</a:t>
            </a:r>
            <a:br>
              <a:rPr lang="es-CO" sz="1800" b="1">
                <a:solidFill>
                  <a:schemeClr val="tx2"/>
                </a:solidFill>
              </a:rPr>
            </a:br>
            <a:r>
              <a:rPr lang="es-CO" sz="1800" b="1">
                <a:solidFill>
                  <a:schemeClr val="tx2"/>
                </a:solidFill>
              </a:rPr>
              <a:t>ON c.ClienteID = p.ClienteID;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Ya tienes:</a:t>
            </a:r>
            <a:br>
              <a:rPr lang="es-CO" sz="1800" b="1">
                <a:solidFill>
                  <a:schemeClr val="tx2"/>
                </a:solidFill>
              </a:rPr>
            </a:br>
            <a:r>
              <a:rPr lang="es-CO" sz="1800" b="1">
                <a:solidFill>
                  <a:schemeClr val="tx2"/>
                </a:solidFill>
              </a:rPr>
              <a:t>Quién compró + qué pedido + cuándo.</a:t>
            </a:r>
            <a:endParaRPr lang="es-CO" sz="1800">
              <a:solidFill>
                <a:schemeClr val="tx2"/>
              </a:solidFill>
            </a:endParaRPr>
          </a:p>
          <a:p>
            <a:endParaRPr lang="es-CO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64E14AE-4BF2-F2FF-C43D-146DDCE5F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337435"/>
            <a:ext cx="4142232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02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9311E9-14D8-B575-F311-618573E10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CO" sz="3600" b="1">
                <a:solidFill>
                  <a:schemeClr val="tx2"/>
                </a:solidFill>
              </a:rPr>
              <a:t>Construir un dataset.</a:t>
            </a:r>
            <a:endParaRPr lang="es-CO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88FCE6-16B8-E4D3-540E-2C5CC759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Paso 2: Agregar detalle del pedido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SELECT c.Nombre, p.PedidoID, d.ProductoID, d.Cantidad</a:t>
            </a:r>
            <a:br>
              <a:rPr lang="es-CO" sz="1800" b="1">
                <a:solidFill>
                  <a:schemeClr val="tx2"/>
                </a:solidFill>
              </a:rPr>
            </a:br>
            <a:r>
              <a:rPr lang="es-CO" sz="1800" b="1">
                <a:solidFill>
                  <a:schemeClr val="tx2"/>
                </a:solidFill>
              </a:rPr>
              <a:t>FROM Clientes c</a:t>
            </a:r>
            <a:br>
              <a:rPr lang="es-CO" sz="1800" b="1">
                <a:solidFill>
                  <a:schemeClr val="tx2"/>
                </a:solidFill>
              </a:rPr>
            </a:br>
            <a:r>
              <a:rPr lang="es-CO" sz="1800" b="1">
                <a:solidFill>
                  <a:schemeClr val="tx2"/>
                </a:solidFill>
              </a:rPr>
              <a:t>INNER JOIN Pedidos p ON c.ClienteID = p.ClienteID</a:t>
            </a:r>
            <a:br>
              <a:rPr lang="es-CO" sz="1800" b="1">
                <a:solidFill>
                  <a:schemeClr val="tx2"/>
                </a:solidFill>
              </a:rPr>
            </a:br>
            <a:r>
              <a:rPr lang="es-CO" sz="1800" b="1">
                <a:solidFill>
                  <a:schemeClr val="tx2"/>
                </a:solidFill>
              </a:rPr>
              <a:t>INNER JOIN DetallePedidos d ON p.PedidoID = d.PedidoID;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Ahora tienes:</a:t>
            </a:r>
            <a:br>
              <a:rPr lang="es-CO" sz="1800" b="1">
                <a:solidFill>
                  <a:schemeClr val="tx2"/>
                </a:solidFill>
              </a:rPr>
            </a:br>
            <a:r>
              <a:rPr lang="es-CO" sz="1800" b="1">
                <a:solidFill>
                  <a:schemeClr val="tx2"/>
                </a:solidFill>
              </a:rPr>
              <a:t>Cliente + pedido + qué productos + cantidad.</a:t>
            </a:r>
            <a:endParaRPr lang="es-CO" sz="1800">
              <a:solidFill>
                <a:schemeClr val="tx2"/>
              </a:solidFill>
            </a:endParaRPr>
          </a:p>
          <a:p>
            <a:endParaRPr lang="es-CO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EEA4B7CA-93B9-8209-E09B-DA2932B83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337435"/>
            <a:ext cx="4142232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253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BDB05B-67B2-CBB9-D455-4A5E16BA4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CO" sz="3600" b="1">
                <a:solidFill>
                  <a:schemeClr val="tx2"/>
                </a:solidFill>
              </a:rPr>
              <a:t>Construir un dataset.</a:t>
            </a:r>
            <a:endParaRPr lang="es-CO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0AAFFA-2065-ECF9-C912-76E6C8675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O" sz="1500" b="1">
                <a:solidFill>
                  <a:schemeClr val="tx2"/>
                </a:solidFill>
              </a:rPr>
              <a:t>Paso 3: Agregar productos (dataset completo)</a:t>
            </a:r>
            <a:endParaRPr lang="es-CO" sz="15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500" b="1">
                <a:solidFill>
                  <a:schemeClr val="tx2"/>
                </a:solidFill>
              </a:rPr>
              <a:t>SELECT </a:t>
            </a:r>
            <a:br>
              <a:rPr lang="es-CO" sz="1500" b="1">
                <a:solidFill>
                  <a:schemeClr val="tx2"/>
                </a:solidFill>
              </a:rPr>
            </a:br>
            <a:r>
              <a:rPr lang="es-CO" sz="1500" b="1">
                <a:solidFill>
                  <a:schemeClr val="tx2"/>
                </a:solidFill>
              </a:rPr>
              <a:t>c.Nombre,</a:t>
            </a:r>
            <a:br>
              <a:rPr lang="es-CO" sz="1500" b="1">
                <a:solidFill>
                  <a:schemeClr val="tx2"/>
                </a:solidFill>
              </a:rPr>
            </a:br>
            <a:r>
              <a:rPr lang="es-CO" sz="1500" b="1">
                <a:solidFill>
                  <a:schemeClr val="tx2"/>
                </a:solidFill>
              </a:rPr>
              <a:t>p.PedidoID,</a:t>
            </a:r>
            <a:br>
              <a:rPr lang="es-CO" sz="1500" b="1">
                <a:solidFill>
                  <a:schemeClr val="tx2"/>
                </a:solidFill>
              </a:rPr>
            </a:br>
            <a:r>
              <a:rPr lang="es-CO" sz="1500" b="1">
                <a:solidFill>
                  <a:schemeClr val="tx2"/>
                </a:solidFill>
              </a:rPr>
              <a:t>pr.NombreProducto,</a:t>
            </a:r>
            <a:br>
              <a:rPr lang="es-CO" sz="1500" b="1">
                <a:solidFill>
                  <a:schemeClr val="tx2"/>
                </a:solidFill>
              </a:rPr>
            </a:br>
            <a:r>
              <a:rPr lang="es-CO" sz="1500" b="1">
                <a:solidFill>
                  <a:schemeClr val="tx2"/>
                </a:solidFill>
              </a:rPr>
              <a:t>d.Cantidad,</a:t>
            </a:r>
            <a:br>
              <a:rPr lang="es-CO" sz="1500" b="1">
                <a:solidFill>
                  <a:schemeClr val="tx2"/>
                </a:solidFill>
              </a:rPr>
            </a:br>
            <a:r>
              <a:rPr lang="es-CO" sz="1500" b="1">
                <a:solidFill>
                  <a:schemeClr val="tx2"/>
                </a:solidFill>
              </a:rPr>
              <a:t>pr.Precio</a:t>
            </a:r>
            <a:br>
              <a:rPr lang="es-CO" sz="1500" b="1">
                <a:solidFill>
                  <a:schemeClr val="tx2"/>
                </a:solidFill>
              </a:rPr>
            </a:br>
            <a:r>
              <a:rPr lang="es-CO" sz="1500" b="1">
                <a:solidFill>
                  <a:schemeClr val="tx2"/>
                </a:solidFill>
              </a:rPr>
              <a:t>FROM Clientes c</a:t>
            </a:r>
            <a:br>
              <a:rPr lang="es-CO" sz="1500" b="1">
                <a:solidFill>
                  <a:schemeClr val="tx2"/>
                </a:solidFill>
              </a:rPr>
            </a:br>
            <a:r>
              <a:rPr lang="es-CO" sz="1500" b="1">
                <a:solidFill>
                  <a:schemeClr val="tx2"/>
                </a:solidFill>
              </a:rPr>
              <a:t>INNER JOIN Pedidos p ON c.ClienteID = p.ClienteID</a:t>
            </a:r>
            <a:br>
              <a:rPr lang="es-CO" sz="1500" b="1">
                <a:solidFill>
                  <a:schemeClr val="tx2"/>
                </a:solidFill>
              </a:rPr>
            </a:br>
            <a:r>
              <a:rPr lang="es-CO" sz="1500" b="1">
                <a:solidFill>
                  <a:schemeClr val="tx2"/>
                </a:solidFill>
              </a:rPr>
              <a:t>INNER JOIN DetallePedidos d ON p.PedidoID = d.PedidoID</a:t>
            </a:r>
            <a:br>
              <a:rPr lang="es-CO" sz="1500" b="1">
                <a:solidFill>
                  <a:schemeClr val="tx2"/>
                </a:solidFill>
              </a:rPr>
            </a:br>
            <a:r>
              <a:rPr lang="es-CO" sz="1500" b="1">
                <a:solidFill>
                  <a:schemeClr val="tx2"/>
                </a:solidFill>
              </a:rPr>
              <a:t>INNER JOIN Productos pr ON d.ProductoID = pr.ProductoID;</a:t>
            </a:r>
            <a:endParaRPr lang="es-CO" sz="1500">
              <a:solidFill>
                <a:schemeClr val="tx2"/>
              </a:solidFill>
            </a:endParaRPr>
          </a:p>
          <a:p>
            <a:endParaRPr lang="es-CO" sz="15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D21DDE88-99C6-84E1-6B78-A9DF36D3C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337435"/>
            <a:ext cx="4142232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86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8F808F-7C6E-709C-F67D-B0580E1A2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CO" sz="3600" b="1">
                <a:solidFill>
                  <a:schemeClr val="tx2"/>
                </a:solidFill>
              </a:rPr>
              <a:t>Relaciones útiles para el análisis del negocio.</a:t>
            </a:r>
            <a:endParaRPr lang="es-CO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2DEBE3-D702-EB46-5914-9E8D0E58E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¿Qué significa “relaciones útiles”?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No todas las relaciones en la base de datos aportan valor.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Una relación útil es aquella que permite responder una pregunta del negocio.</a:t>
            </a:r>
            <a:endParaRPr lang="es-CO" sz="1800">
              <a:solidFill>
                <a:schemeClr val="tx2"/>
              </a:solidFill>
            </a:endParaRPr>
          </a:p>
          <a:p>
            <a:endParaRPr lang="es-CO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179BDACD-FBBC-F7E2-0560-3786CB425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337435"/>
            <a:ext cx="4142232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085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2B5EF7-AE4C-0E44-24B3-408FD929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CO" sz="3600" b="1">
                <a:solidFill>
                  <a:schemeClr val="tx2"/>
                </a:solidFill>
              </a:rPr>
              <a:t>Relaciones útiles para el análisis del negocio.</a:t>
            </a:r>
            <a:endParaRPr lang="es-CO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ACA14D-3430-7E42-0172-C5DF4139C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Ejemplo del proyecto (contexto)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Tablas:</a:t>
            </a:r>
            <a:endParaRPr lang="es-CO" sz="180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Clientes </a:t>
            </a:r>
            <a:endParaRPr lang="es-CO" sz="180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Pedidos </a:t>
            </a:r>
            <a:endParaRPr lang="es-CO" sz="180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DetallePedidos </a:t>
            </a:r>
            <a:endParaRPr lang="es-CO" sz="180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Productos </a:t>
            </a:r>
            <a:endParaRPr lang="es-CO" sz="1800">
              <a:solidFill>
                <a:schemeClr val="tx2"/>
              </a:solidFill>
            </a:endParaRPr>
          </a:p>
          <a:p>
            <a:endParaRPr lang="es-CO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A27C7BFB-BAEC-A508-52AD-1100BD91C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337435"/>
            <a:ext cx="4142232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656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3832FD-5425-A364-2B2A-F727A98FC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CO" sz="3600" b="1">
                <a:solidFill>
                  <a:schemeClr val="tx2"/>
                </a:solidFill>
              </a:rPr>
              <a:t>Relaciones útiles para el análisis del negocio.</a:t>
            </a:r>
            <a:endParaRPr lang="es-CO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2BC99B-0CC0-9F8D-45EE-5841358BF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Pensar primero en el negocio (NO en SQL)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Antes de escribir código, haz esto: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Pregunta clave:</a:t>
            </a:r>
            <a:br>
              <a:rPr lang="es-CO" sz="1800" b="1">
                <a:solidFill>
                  <a:schemeClr val="tx2"/>
                </a:solidFill>
              </a:rPr>
            </a:br>
            <a:r>
              <a:rPr lang="es-CO" sz="1800" b="1">
                <a:solidFill>
                  <a:schemeClr val="tx2"/>
                </a:solidFill>
              </a:rPr>
              <a:t>¿Qué quiere saber la empresa?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Ejemplos reales:</a:t>
            </a:r>
            <a:endParaRPr lang="es-CO" sz="180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¿Quién compra más? </a:t>
            </a:r>
            <a:endParaRPr lang="es-CO" sz="180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¿Qué producto se vende más? </a:t>
            </a:r>
            <a:endParaRPr lang="es-CO" sz="180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¿Cuánto dinero genera cada cliente? </a:t>
            </a:r>
            <a:endParaRPr lang="es-CO" sz="180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¿Qué productos no se venden? </a:t>
            </a:r>
            <a:endParaRPr lang="es-CO" sz="1800">
              <a:solidFill>
                <a:schemeClr val="tx2"/>
              </a:solidFill>
            </a:endParaRPr>
          </a:p>
          <a:p>
            <a:endParaRPr lang="es-CO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A032940E-8C4B-F19E-9C69-50A7AEF8F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337435"/>
            <a:ext cx="4142232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300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828153-4F7B-7AD1-C3B5-E53AFB3D6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s-CO" sz="3600" b="1">
                <a:solidFill>
                  <a:schemeClr val="tx2"/>
                </a:solidFill>
              </a:rPr>
              <a:t>Relaciones útiles para el análisis del negocio.</a:t>
            </a:r>
            <a:endParaRPr lang="es-CO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F15FB4-5C26-15CA-67C8-B61DC8A3E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Relaciones útiles más importantes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1. Clientes ↔ Pedidos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Relación: 1:N (un cliente puede tener muchos pedidos)</a:t>
            </a:r>
            <a:endParaRPr lang="es-CO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Sirve para:</a:t>
            </a:r>
            <a:endParaRPr lang="es-CO" sz="180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Frecuencia de compra </a:t>
            </a:r>
            <a:endParaRPr lang="es-CO" sz="180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Clientes activos vs inactivos </a:t>
            </a:r>
            <a:endParaRPr lang="es-CO" sz="180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800" b="1">
                <a:solidFill>
                  <a:schemeClr val="tx2"/>
                </a:solidFill>
              </a:rPr>
              <a:t>Valor por cliente</a:t>
            </a:r>
            <a:endParaRPr lang="es-CO" sz="1800">
              <a:solidFill>
                <a:schemeClr val="tx2"/>
              </a:solidFill>
            </a:endParaRPr>
          </a:p>
          <a:p>
            <a:endParaRPr lang="es-CO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D50D109C-C0B7-863F-5A3D-FAE242C55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337435"/>
            <a:ext cx="4142232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0960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693</Words>
  <Application>Microsoft Office PowerPoint</Application>
  <PresentationFormat>Panorámica</PresentationFormat>
  <Paragraphs>80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Tema de Office</vt:lpstr>
      <vt:lpstr>SQL Server Management Studio</vt:lpstr>
      <vt:lpstr>¿Qué es un JOIN? </vt:lpstr>
      <vt:lpstr>INNER JOIN </vt:lpstr>
      <vt:lpstr>INNER JOIN</vt:lpstr>
      <vt:lpstr>LEFT JOIN </vt:lpstr>
      <vt:lpstr>LEFT JOIN </vt:lpstr>
      <vt:lpstr>RIGHT JOIN </vt:lpstr>
      <vt:lpstr>RIGHT JOIN </vt:lpstr>
      <vt:lpstr>Resumen rápido. </vt:lpstr>
      <vt:lpstr>¿Qué significa “construir un dataset”? </vt:lpstr>
      <vt:lpstr>Construir un dataset.</vt:lpstr>
      <vt:lpstr>Construir un dataset.</vt:lpstr>
      <vt:lpstr>Construir un dataset.</vt:lpstr>
      <vt:lpstr>Relaciones útiles para el análisis del negocio.</vt:lpstr>
      <vt:lpstr>Relaciones útiles para el análisis del negocio.</vt:lpstr>
      <vt:lpstr>Relaciones útiles para el análisis del negocio.</vt:lpstr>
      <vt:lpstr>Relaciones útiles para el análisis del negocio.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Berman Alonso Moya Umaña</dc:creator>
  <cp:lastModifiedBy>Berman Alonso Moya Umaña</cp:lastModifiedBy>
  <cp:revision>13</cp:revision>
  <dcterms:created xsi:type="dcterms:W3CDTF">2026-04-14T23:49:13Z</dcterms:created>
  <dcterms:modified xsi:type="dcterms:W3CDTF">2026-05-06T01:46:46Z</dcterms:modified>
</cp:coreProperties>
</file>