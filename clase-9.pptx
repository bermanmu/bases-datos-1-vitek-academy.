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2ECD5-6174-45B8-48A5-DC65CCA1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818714-6668-02EF-0BE7-EFAE6C002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5956F-8766-C104-511A-92A7EEC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5ED6-F911-EBCC-E362-B3BD25B9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A2067-2C84-9C9A-5362-A615C8D1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2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D6E38-5D86-2275-4847-C5F8EAAB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ED1FF-BEC6-B65B-48FE-7B31169A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558D68-CD7C-83AF-C335-5BE674FB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57A66-D406-86ED-806E-F017912D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AE242-88F9-292D-C9DC-D5C80A8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1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83F93-E263-9F8C-1A6B-9C2851C7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8171CC-1D06-E3A7-6E73-E938DF286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9445F-B43E-ADAB-354C-06F06CBE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12FD3-0226-7E43-FC40-42F701AA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0B36B-07A7-B835-9706-3A1617C6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81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608E0-B185-D981-3147-1229E93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DE92E-77BE-5563-6A5B-1817396EA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D8A6B-DA18-FDEF-6A3D-DF9C8F579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CAA43-C6EC-6C5B-4D7E-A4A2DF6D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60F230-750F-6DE7-C0A7-B6C71087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D08C9-85A9-F816-5508-B5162A06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42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9D25-A4F9-6DB4-B978-3476B14C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70492-A359-E547-3894-3591DAA6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3C68F3-B68E-EA41-1746-1926D7538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2F3125-CFF6-82E0-0F8F-E2CAE9C36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93EEDC-19F4-DE0F-AEF0-709BF14E6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BF7DA0-9C20-8967-FE32-3436791E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2278C3-087F-37E9-7649-36AA16C9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E3ED5E-51D5-0BB4-A155-E493BD09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A878C-2B32-F7C9-4371-C65C5583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1E515D-9C5D-FBB8-FD0D-C6392EAE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AD9D7-94E1-2353-12C8-D0760879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05DA9B-C6CD-BC5E-C863-D569EA8B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6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A09F30-1B2D-3F1C-97D0-02980ABE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54E0E-CF14-D4D2-AD34-B74A618F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46402-4357-7BAE-BF4D-3E3BDD64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3B3AE-2076-9F41-1F4E-EE5BB74B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78AC6-6C33-F6C9-973F-20F739FC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7F78BA-3DB1-7686-F3A3-AA7CD7879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DC2F2-1C5B-E7D1-90AC-63DFBED1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3AB5E-8BD8-1848-AC13-05DA20EB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AE851-D0C7-8F0E-F731-96747889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28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5D4E-16F5-1327-9ABC-9BE4329F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5B5F01-859B-438C-125A-05E5B9F9C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A4931-8A69-55A8-F86A-F7CBCE7F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B643B-35BA-AC53-54FA-DD00F14D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CACA5-07FA-DB0B-38A5-F1463FCB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406C6-7240-A5F8-52C0-C9CB038F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227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DC521-7317-9EE7-829E-7D21CCC5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230A5C-37BC-4EC0-DC02-72D098B7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AC0C3-C73A-84D1-419D-FDAF9E83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53995-BA09-9F9F-7706-1A76F614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5D7C7-4FBD-E8D1-2374-24B5806A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331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380A01-2966-E65F-DD0A-059870FFF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2F6883-BA22-BF34-D5A7-E186D1AEF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6FAB3-3918-4BF6-6977-2F67481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94FFF2-DE1B-497D-21D2-D5C73AF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887700-0DDA-6822-BD48-FEFFE74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05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15AB8A-585B-A85E-94D6-D359638A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B79BA-371E-4E5E-3B6D-B04BF500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E602C5-B239-EE35-C95E-497AE3991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9D72B-C289-4FA2-A7A6-285C7A564C03}" type="datetimeFigureOut">
              <a:rPr lang="es-CO" smtClean="0"/>
              <a:t>19/05/2026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12A4DD-04CF-E6B8-EF64-9372C8E58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9D67-EB3D-E9A7-49D9-4406898D7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456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9A3068-E219-2237-8A8F-B37D662DA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O" sz="4800" b="1"/>
              <a:t>SQL Server Management Studio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1F4D83-DD47-A77D-A68B-4B595137D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s-MX" sz="2000"/>
              <a:t>Profesor Berman Moya Umaña.</a:t>
            </a:r>
            <a:endParaRPr lang="es-CO" sz="2000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1FF23-5176-45CE-8BC8-1DB960C3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950060"/>
            <a:ext cx="6408836" cy="48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6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6AF853-223B-138C-1CE5-32F2FD02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¿Qué es una Subconsulta?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E16AD3-8B3B-8325-A15A-79FA447F0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Una subconsulta es una instrucción SELECT anidada dentro de otra consulta.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Sintaxis básica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SELECT columnas</a:t>
            </a:r>
            <a:br>
              <a:rPr lang="es-CO" sz="2000" b="1" dirty="0"/>
            </a:br>
            <a:r>
              <a:rPr lang="es-CO" sz="2000" b="1" dirty="0"/>
              <a:t>FROM tabla</a:t>
            </a:r>
            <a:br>
              <a:rPr lang="es-CO" sz="2000" b="1" dirty="0"/>
            </a:br>
            <a:r>
              <a:rPr lang="es-CO" sz="2000" b="1" dirty="0"/>
              <a:t>WHERE columna = (</a:t>
            </a:r>
            <a:br>
              <a:rPr lang="es-CO" sz="2000" b="1" dirty="0"/>
            </a:br>
            <a:r>
              <a:rPr lang="es-CO" sz="2000" b="1" dirty="0"/>
              <a:t>    SELECT columna</a:t>
            </a:r>
            <a:br>
              <a:rPr lang="es-CO" sz="2000" b="1" dirty="0"/>
            </a:br>
            <a:r>
              <a:rPr lang="es-CO" sz="2000" b="1" dirty="0"/>
              <a:t>    FROM </a:t>
            </a:r>
            <a:r>
              <a:rPr lang="es-CO" sz="2000" b="1" dirty="0" err="1"/>
              <a:t>otra_tabla</a:t>
            </a:r>
            <a:br>
              <a:rPr lang="es-CO" sz="2000" b="1" dirty="0"/>
            </a:br>
            <a:r>
              <a:rPr lang="es-CO" sz="2000" b="1" dirty="0"/>
              <a:t>);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981768-794E-A460-BD44-66AF0FC0C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D86353-0B7B-08FB-8D87-BD931C4C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¿Para qué sirven las Subconsultas?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FEE87A-07A5-B968-FC1E-16BA4FBFE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Las subconsultas permiten: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Filtrar información.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Comparar datos.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Realizar cálculos previos.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Dividir problemas complejos en partes pequeñas.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Consultar datos relacionados entre tablas.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973AB9-8FB4-9E19-7004-7A43C7B8E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B7955D-78B4-57E3-9EC3-9FE859A1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Subconsultas en WHERE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7E2564-68BE-3E96-0267-2B8742301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Son las más comunes.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Objetivo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Filtrar resultados usando el resultado de otra consulta.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4D221A-ABCD-9DC4-AA5E-2319A903B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8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1D006E-F404-122F-6133-7FA8623C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Operadores usados con Subconsultas</a:t>
            </a:r>
            <a:endParaRPr lang="es-CO" sz="4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E429BB-B467-955C-78C6-8C21D8BD7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=     Igual a</a:t>
            </a:r>
          </a:p>
          <a:p>
            <a:pPr marL="0" indent="0">
              <a:buNone/>
            </a:pPr>
            <a:r>
              <a:rPr lang="es-CO" sz="2000" b="1" dirty="0"/>
              <a:t>&gt; &lt;   Comparaciones</a:t>
            </a:r>
          </a:p>
          <a:p>
            <a:pPr marL="0" indent="0">
              <a:buNone/>
            </a:pPr>
            <a:r>
              <a:rPr lang="es-CO" sz="2000" b="1" dirty="0"/>
              <a:t>IN   Comparar varios valores</a:t>
            </a:r>
          </a:p>
          <a:p>
            <a:pPr marL="0" indent="0">
              <a:buNone/>
            </a:pPr>
            <a:r>
              <a:rPr lang="es-CO" sz="2000" b="1" dirty="0"/>
              <a:t>ANY  Compara con cualquiera</a:t>
            </a:r>
          </a:p>
          <a:p>
            <a:pPr marL="0" indent="0">
              <a:buNone/>
            </a:pPr>
            <a:r>
              <a:rPr lang="es-CO" sz="2000" b="1" dirty="0"/>
              <a:t>ALL  Compara con todos</a:t>
            </a:r>
          </a:p>
          <a:p>
            <a:pPr marL="0" indent="0">
              <a:buNone/>
            </a:pPr>
            <a:r>
              <a:rPr lang="es-CO" sz="2000" b="1" dirty="0"/>
              <a:t>EXISTS  Verifica existencia</a:t>
            </a:r>
            <a:endParaRPr lang="es-CO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EBFCF7-B75F-1083-4ACA-E4CACD997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CC0CAC-1753-C102-E778-9465AEE5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Subconsultas en SELECT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DCED8-7C7D-67CC-A5FF-FE20D945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Se usan para mostrar datos calculados en cada fila.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Ejemplo: Mostrar salario y promedio general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SELECT </a:t>
            </a:r>
            <a:br>
              <a:rPr lang="es-CO" sz="2000" b="1" dirty="0"/>
            </a:br>
            <a:r>
              <a:rPr lang="es-CO" sz="2000" b="1" dirty="0"/>
              <a:t>    nombre,</a:t>
            </a:r>
            <a:br>
              <a:rPr lang="es-CO" sz="2000" b="1" dirty="0"/>
            </a:br>
            <a:r>
              <a:rPr lang="es-CO" sz="2000" b="1" dirty="0"/>
              <a:t>    salario,</a:t>
            </a:r>
            <a:br>
              <a:rPr lang="es-CO" sz="2000" b="1" dirty="0"/>
            </a:br>
            <a:r>
              <a:rPr lang="es-CO" sz="2000" b="1" dirty="0"/>
              <a:t>    (</a:t>
            </a:r>
            <a:br>
              <a:rPr lang="es-CO" sz="2000" b="1" dirty="0"/>
            </a:br>
            <a:r>
              <a:rPr lang="es-CO" sz="2000" b="1" dirty="0"/>
              <a:t>        SELECT AVG(salario)</a:t>
            </a:r>
            <a:br>
              <a:rPr lang="es-CO" sz="2000" b="1" dirty="0"/>
            </a:br>
            <a:r>
              <a:rPr lang="es-CO" sz="2000" b="1" dirty="0"/>
              <a:t>        FROM empleados</a:t>
            </a:r>
            <a:br>
              <a:rPr lang="es-CO" sz="2000" b="1" dirty="0"/>
            </a:br>
            <a:r>
              <a:rPr lang="es-CO" sz="2000" b="1" dirty="0"/>
              <a:t>    ) AS </a:t>
            </a:r>
            <a:r>
              <a:rPr lang="es-CO" sz="2000" b="1" dirty="0" err="1"/>
              <a:t>promedio_general</a:t>
            </a:r>
            <a:br>
              <a:rPr lang="es-CO" sz="2000" b="1" dirty="0"/>
            </a:br>
            <a:r>
              <a:rPr lang="es-CO" sz="2000" b="1" dirty="0"/>
              <a:t>FROM empleados;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CB8EF8-C2FA-16AF-0A07-5045B2CC2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4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35EC79-60FC-0D36-5688-D0CB8A25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Subconsultas en FROM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E57FF2-24B4-7379-F06A-C6A6F2577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La subconsulta actúa como una tabla temporal.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También se le llama: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Tabla derivada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Tabla virtual 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874E39-C7E7-164F-3026-D11F22304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FB82B4-6472-CB0D-42ED-351CBD1F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Subconsultas en FROM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3031D2-51B1-4790-5BC5-667ACE6D5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Ejemplo: Promedio de salarios por departamento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SELECT departamento, promedio</a:t>
            </a:r>
            <a:br>
              <a:rPr lang="es-CO" sz="2000" b="1"/>
            </a:br>
            <a:r>
              <a:rPr lang="es-CO" sz="2000" b="1"/>
              <a:t>FROM (</a:t>
            </a:r>
            <a:br>
              <a:rPr lang="es-CO" sz="2000" b="1"/>
            </a:br>
            <a:r>
              <a:rPr lang="es-CO" sz="2000" b="1"/>
              <a:t>    SELECT departamento_id AS departamento,</a:t>
            </a:r>
            <a:br>
              <a:rPr lang="es-CO" sz="2000" b="1"/>
            </a:br>
            <a:r>
              <a:rPr lang="es-CO" sz="2000" b="1"/>
              <a:t>           AVG(salario) AS promedio</a:t>
            </a:r>
            <a:br>
              <a:rPr lang="es-CO" sz="2000" b="1"/>
            </a:br>
            <a:r>
              <a:rPr lang="es-CO" sz="2000" b="1"/>
              <a:t>    FROM empleados</a:t>
            </a:r>
            <a:br>
              <a:rPr lang="es-CO" sz="2000" b="1"/>
            </a:br>
            <a:r>
              <a:rPr lang="es-CO" sz="2000" b="1"/>
              <a:t>    GROUP BY departamento_id</a:t>
            </a:r>
            <a:br>
              <a:rPr lang="es-CO" sz="2000" b="1"/>
            </a:br>
            <a:r>
              <a:rPr lang="es-CO" sz="2000" b="1"/>
              <a:t>) AS datos_promedio;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D43B98-3416-455C-23E8-B319601B4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5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395496-D7FD-40DA-4229-F9F47252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Subconsultas Correlacionadas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8B981-61ED-B91D-6841-1FB43494B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1900" b="1" dirty="0"/>
              <a:t>Son subconsultas que dependen de la consulta principal.</a:t>
            </a:r>
            <a:endParaRPr lang="es-CO" sz="1900" dirty="0"/>
          </a:p>
          <a:p>
            <a:pPr marL="0" indent="0">
              <a:buNone/>
            </a:pPr>
            <a:r>
              <a:rPr lang="es-CO" sz="1900" b="1" dirty="0"/>
              <a:t>Se ejecutan una vez por cada fila.</a:t>
            </a:r>
            <a:endParaRPr lang="es-CO" sz="1900" dirty="0"/>
          </a:p>
          <a:p>
            <a:pPr marL="0" indent="0">
              <a:buNone/>
            </a:pPr>
            <a:r>
              <a:rPr lang="es-CO" sz="1900" b="1" dirty="0"/>
              <a:t>Ejemplo</a:t>
            </a:r>
            <a:endParaRPr lang="es-CO" sz="1900" dirty="0"/>
          </a:p>
          <a:p>
            <a:pPr marL="0" indent="0">
              <a:buNone/>
            </a:pPr>
            <a:r>
              <a:rPr lang="es-CO" sz="1900" b="1" dirty="0"/>
              <a:t>SELECT nombre, salario</a:t>
            </a:r>
            <a:br>
              <a:rPr lang="es-CO" sz="1900" b="1" dirty="0"/>
            </a:br>
            <a:r>
              <a:rPr lang="es-CO" sz="1900" b="1" dirty="0"/>
              <a:t>FROM empleados e</a:t>
            </a:r>
            <a:br>
              <a:rPr lang="es-CO" sz="1900" b="1" dirty="0"/>
            </a:br>
            <a:r>
              <a:rPr lang="es-CO" sz="1900" b="1" dirty="0"/>
              <a:t>WHERE salario &gt; (</a:t>
            </a:r>
            <a:br>
              <a:rPr lang="es-CO" sz="1900" b="1" dirty="0"/>
            </a:br>
            <a:r>
              <a:rPr lang="es-CO" sz="1900" b="1" dirty="0"/>
              <a:t>    SELECT AVG(salario)</a:t>
            </a:r>
            <a:br>
              <a:rPr lang="es-CO" sz="1900" b="1" dirty="0"/>
            </a:br>
            <a:r>
              <a:rPr lang="es-CO" sz="1900" b="1" dirty="0"/>
              <a:t>    FROM empleados</a:t>
            </a:r>
            <a:br>
              <a:rPr lang="es-CO" sz="1900" b="1" dirty="0"/>
            </a:br>
            <a:r>
              <a:rPr lang="es-CO" sz="1900" b="1" dirty="0"/>
              <a:t>    WHERE departamento_id = e.departamento_id</a:t>
            </a:r>
            <a:br>
              <a:rPr lang="es-CO" sz="1900" b="1" dirty="0"/>
            </a:br>
            <a:r>
              <a:rPr lang="es-CO" sz="1900" b="1" dirty="0"/>
              <a:t>);</a:t>
            </a:r>
            <a:endParaRPr lang="es-CO" sz="1900" dirty="0"/>
          </a:p>
          <a:p>
            <a:endParaRPr lang="es-CO" sz="1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212DAC-A687-727B-A83B-8BEEABBC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4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9C29-2670-2A77-6BE9-AD6647B91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 dirty="0"/>
              <a:t>¿Qué es una VIEW?</a:t>
            </a:r>
            <a:endParaRPr lang="es-CO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B14FE-25D4-E5DA-C001-8D6DC0924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Una VIEW es una consulta guardada que puede consultarse como si fuera una tabla normal.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La vista NO almacena los datos físicamente (en la mayoría de motores SQL).</a:t>
            </a:r>
            <a:br>
              <a:rPr lang="es-CO" sz="2000" b="1"/>
            </a:br>
            <a:r>
              <a:rPr lang="es-CO" sz="2000" b="1"/>
              <a:t>Lo que almacena es la consulta.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F3EBCA-18EA-A8E8-6CF7-F7940D853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1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7F3608-A3D0-6046-5C79-920A04E9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¿Para qué sirven las Vistas?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34A998-C393-C59C-2C83-E3ED0798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Las vistas ayudan a: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Reutilizar consultas complejas.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Simplificar consultas largas.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Mejorar seguridad.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Mostrar solo ciertos datos.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Facilitar reportes.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Ocultar columnas sensibles. 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CA43BE-C30C-6095-74B2-0E5EF2FAA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3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EDC154-B7C4-66A3-A2A0-BAFE094E8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Sintaxis básica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892E8-DB62-4C03-2E73-042F2FD3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CREATE VIEW nombre_vista AS</a:t>
            </a:r>
            <a:br>
              <a:rPr lang="es-CO" sz="2000" b="1" dirty="0"/>
            </a:br>
            <a:r>
              <a:rPr lang="es-CO" sz="2000" b="1" dirty="0"/>
              <a:t>SELECT columnas</a:t>
            </a:r>
            <a:br>
              <a:rPr lang="es-CO" sz="2000" b="1" dirty="0"/>
            </a:br>
            <a:r>
              <a:rPr lang="es-CO" sz="2000" b="1" dirty="0"/>
              <a:t>FROM tabla</a:t>
            </a:r>
            <a:br>
              <a:rPr lang="es-CO" sz="2000" b="1" dirty="0"/>
            </a:br>
            <a:r>
              <a:rPr lang="es-CO" sz="2000" b="1" dirty="0"/>
              <a:t>WHERE condicion;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Crear vista de empleados IT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CREATE VIEW vista_empleados_it AS</a:t>
            </a:r>
            <a:br>
              <a:rPr lang="es-CO" sz="2000" b="1" dirty="0"/>
            </a:br>
            <a:r>
              <a:rPr lang="es-CO" sz="2000" b="1" dirty="0"/>
              <a:t>SELECT nombre, salario</a:t>
            </a:r>
            <a:br>
              <a:rPr lang="es-CO" sz="2000" b="1" dirty="0"/>
            </a:br>
            <a:r>
              <a:rPr lang="es-CO" sz="2000" b="1" dirty="0"/>
              <a:t>FROM empleados</a:t>
            </a:r>
            <a:br>
              <a:rPr lang="es-CO" sz="2000" b="1" dirty="0"/>
            </a:br>
            <a:r>
              <a:rPr lang="es-CO" sz="2000" b="1" dirty="0"/>
              <a:t>WHERE departamento = 'IT';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B64468-1D78-023F-A29D-6F9F2FA26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4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B4EF87-645C-8215-0455-80B8CA53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100" b="1"/>
              <a:t>Consultar la vista</a:t>
            </a:r>
            <a:br>
              <a:rPr lang="es-CO" sz="4100"/>
            </a:br>
            <a:endParaRPr lang="es-CO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DD95F1-466A-5700-06C4-203BC9E91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SELECT *</a:t>
            </a:r>
            <a:br>
              <a:rPr lang="es-CO" sz="2000" b="1" dirty="0"/>
            </a:br>
            <a:r>
              <a:rPr lang="es-CO" sz="2000" b="1" dirty="0"/>
              <a:t>FROM vista_empleados_it;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59591B-B304-7DD7-B469-9CAEAEA26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9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AF6002-B94C-35D6-9CEB-AE150325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¿Cómo funciona internamente?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121A8A-570D-AC1F-FC62-C2AFCA3AA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Cuando ejecutamos: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SELECT * FROM vista_empleados_it;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La base de datos realmente ejecuta: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SELECT nombre, salario</a:t>
            </a:r>
            <a:br>
              <a:rPr lang="es-CO" sz="2000" b="1" dirty="0"/>
            </a:br>
            <a:r>
              <a:rPr lang="es-CO" sz="2000" b="1" dirty="0"/>
              <a:t>FROM empleados</a:t>
            </a:r>
            <a:br>
              <a:rPr lang="es-CO" sz="2000" b="1" dirty="0"/>
            </a:br>
            <a:r>
              <a:rPr lang="es-CO" sz="2000" b="1" dirty="0"/>
              <a:t>WHERE departamento = 'IT';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F2E625-FE01-FEA2-C6A1-C77FD12E2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0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9EC97D-3DBE-C779-3466-DA9EA411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VIEW con JOIN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BB40C3-4021-0198-6A4E-C3CCAFB2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CREATE VIEW vista_empleados_departamentos AS</a:t>
            </a:r>
            <a:br>
              <a:rPr lang="es-CO" sz="2000" b="1" dirty="0"/>
            </a:br>
            <a:r>
              <a:rPr lang="es-CO" sz="2000" b="1" dirty="0"/>
              <a:t>SELECT </a:t>
            </a:r>
            <a:br>
              <a:rPr lang="es-CO" sz="2000" b="1" dirty="0"/>
            </a:br>
            <a:r>
              <a:rPr lang="es-CO" sz="2000" b="1" dirty="0"/>
              <a:t>    e.nombre AS empleado,</a:t>
            </a:r>
            <a:br>
              <a:rPr lang="es-CO" sz="2000" b="1" dirty="0"/>
            </a:br>
            <a:r>
              <a:rPr lang="es-CO" sz="2000" b="1" dirty="0"/>
              <a:t>    d.nombre AS departamento</a:t>
            </a:r>
            <a:br>
              <a:rPr lang="es-CO" sz="2000" b="1" dirty="0"/>
            </a:br>
            <a:r>
              <a:rPr lang="es-CO" sz="2000" b="1" dirty="0"/>
              <a:t>FROM empleados e</a:t>
            </a:r>
            <a:br>
              <a:rPr lang="es-CO" sz="2000" b="1" dirty="0"/>
            </a:br>
            <a:r>
              <a:rPr lang="es-CO" sz="2000" b="1" dirty="0"/>
              <a:t>JOIN departamentos d</a:t>
            </a:r>
            <a:br>
              <a:rPr lang="es-CO" sz="2000" b="1" dirty="0"/>
            </a:br>
            <a:r>
              <a:rPr lang="es-CO" sz="2000" b="1" dirty="0"/>
              <a:t>ON e.departamento_id = d.id;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8F46BE-620A-6991-36B0-394C3DCD5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35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9EC272-DDB6-6966-84E0-8AEF55AA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100" b="1"/>
              <a:t>Consultar vista</a:t>
            </a:r>
            <a:br>
              <a:rPr lang="es-CO" sz="4100"/>
            </a:br>
            <a:endParaRPr lang="es-CO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871DBF-D6E7-BDFE-A285-98BEECEDB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SELECT *</a:t>
            </a:r>
            <a:br>
              <a:rPr lang="es-CO" sz="2000" b="1"/>
            </a:br>
            <a:r>
              <a:rPr lang="es-CO" sz="2000" b="1"/>
              <a:t>FROM vista_empleados_departamentos;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8BB113-F182-EE98-D5B2-BDF44CD0D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84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5A0382-5292-21C0-F1C8-749EFA71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Modificar una VIEW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8B316-8D0D-8504-B8A0-2E6A0B32E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Sintaxis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CREATE OR REPLACE VIEW nombre_vista AS</a:t>
            </a:r>
            <a:br>
              <a:rPr lang="es-CO" sz="2000" b="1" dirty="0"/>
            </a:br>
            <a:r>
              <a:rPr lang="es-CO" sz="2000" b="1" dirty="0"/>
              <a:t>SELECT ...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Ejemplo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CREATE OR REPLACE VIEW vista_empleados_it AS</a:t>
            </a:r>
            <a:br>
              <a:rPr lang="es-CO" sz="2000" b="1" dirty="0"/>
            </a:br>
            <a:r>
              <a:rPr lang="es-CO" sz="2000" b="1" dirty="0"/>
              <a:t>SELECT nombre, salario, departamento</a:t>
            </a:r>
            <a:br>
              <a:rPr lang="es-CO" sz="2000" b="1" dirty="0"/>
            </a:br>
            <a:r>
              <a:rPr lang="es-CO" sz="2000" b="1" dirty="0"/>
              <a:t>FROM empleados</a:t>
            </a:r>
            <a:br>
              <a:rPr lang="es-CO" sz="2000" b="1" dirty="0"/>
            </a:br>
            <a:r>
              <a:rPr lang="es-CO" sz="2000" b="1" dirty="0"/>
              <a:t>WHERE departamento = 'IT';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6D0B27-5764-9C77-6B12-32BC5E18B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6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6621F9-3A14-F5EC-842B-46FA965DB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Eliminar una VIEW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3E8599-ED9E-FADA-536C-FDB2B8EED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Sintaxis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DROP VIEW nombre_vista;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Ejemplo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DROP VIEW vista_empleados_it;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BD34E8-D57D-BBA7-D0DF-264FC02FE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3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2D47C2-57AB-EB40-639F-063DC4D1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¿Qué es una CTE?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4BFDA-4E67-7EE8-8360-DED3E126A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Una CTE es una consulta temporal con nombre que existe únicamente durante la ejecución de una consulta.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Funciona como una tabla temporal creada dentro del mismo SELECT.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CC84A7-5120-77BA-154D-3C3F5C461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8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46F55-BA0B-1342-5CE4-C73DDDD96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¿Para qué sirven las CTEs?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A1AC80-D77F-8F26-6AC4-611A5172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Las CTEs ayudan a: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Organizar consultas largas.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Mejorar legibilidad.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Dividir problemas complejos.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Reutilizar resultados intermedios.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Reemplazar subconsultas complejas.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Facilitar consultas recursivas. 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7A5FE7-DB76-478B-A1DD-EF05E2DAE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91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42005D-373E-D34B-9D9B-B48DD920E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Sintaxis básica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E5A35B-4739-DEEE-8396-A3E220726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WITH nombre_cte AS (</a:t>
            </a:r>
            <a:br>
              <a:rPr lang="en-US" sz="1700" b="1" dirty="0"/>
            </a:br>
            <a:r>
              <a:rPr lang="en-US" sz="1700" b="1" dirty="0"/>
              <a:t>    SELECT columnas</a:t>
            </a:r>
            <a:br>
              <a:rPr lang="en-US" sz="1700" b="1" dirty="0"/>
            </a:br>
            <a:r>
              <a:rPr lang="en-US" sz="1700" b="1" dirty="0"/>
              <a:t>    FROM tabla</a:t>
            </a:r>
            <a:br>
              <a:rPr lang="en-US" sz="1700" b="1" dirty="0"/>
            </a:br>
            <a:r>
              <a:rPr lang="en-US" sz="1700" b="1" dirty="0"/>
              <a:t>)</a:t>
            </a:r>
            <a:br>
              <a:rPr lang="en-US" sz="1700" b="1" dirty="0"/>
            </a:br>
            <a:r>
              <a:rPr lang="en-US" sz="1700" b="1" dirty="0"/>
              <a:t>SELECT *</a:t>
            </a:r>
            <a:br>
              <a:rPr lang="en-US" sz="1700" b="1" dirty="0"/>
            </a:br>
            <a:r>
              <a:rPr lang="en-US" sz="1700" b="1" dirty="0"/>
              <a:t>FROM nombre_cte;</a:t>
            </a:r>
            <a:endParaRPr lang="es-CO" sz="1700" dirty="0"/>
          </a:p>
          <a:p>
            <a:pPr marL="0" indent="0">
              <a:buNone/>
            </a:pPr>
            <a:r>
              <a:rPr lang="es-CO" sz="1700" b="1" dirty="0"/>
              <a:t>Consulta usando CTE</a:t>
            </a:r>
            <a:endParaRPr lang="es-CO" sz="1700" dirty="0"/>
          </a:p>
          <a:p>
            <a:pPr marL="0" indent="0">
              <a:buNone/>
            </a:pPr>
            <a:r>
              <a:rPr lang="es-CO" sz="1700" b="1" dirty="0"/>
              <a:t>WITH empleados_altos_salarios AS (</a:t>
            </a:r>
            <a:br>
              <a:rPr lang="es-CO" sz="1700" b="1" dirty="0"/>
            </a:br>
            <a:r>
              <a:rPr lang="es-CO" sz="1700" b="1" dirty="0"/>
              <a:t>    SELECT nombre, salario</a:t>
            </a:r>
            <a:br>
              <a:rPr lang="es-CO" sz="1700" b="1" dirty="0"/>
            </a:br>
            <a:r>
              <a:rPr lang="es-CO" sz="1700" b="1" dirty="0"/>
              <a:t>    FROM empleados</a:t>
            </a:r>
            <a:br>
              <a:rPr lang="es-CO" sz="1700" b="1" dirty="0"/>
            </a:br>
            <a:r>
              <a:rPr lang="es-CO" sz="1700" b="1" dirty="0"/>
              <a:t>    WHERE salario &gt; 1000</a:t>
            </a:r>
            <a:br>
              <a:rPr lang="es-CO" sz="1700" b="1" dirty="0"/>
            </a:br>
            <a:r>
              <a:rPr lang="es-CO" sz="1700" b="1" dirty="0"/>
              <a:t>)</a:t>
            </a:r>
            <a:br>
              <a:rPr lang="es-CO" sz="1700" b="1" dirty="0"/>
            </a:br>
            <a:r>
              <a:rPr lang="es-CO" sz="1700" b="1" dirty="0"/>
              <a:t>SELECT *</a:t>
            </a:r>
            <a:br>
              <a:rPr lang="es-CO" sz="1700" b="1" dirty="0"/>
            </a:br>
            <a:r>
              <a:rPr lang="es-CO" sz="1700" b="1" dirty="0"/>
              <a:t>FROM empleados_altos_salarios;</a:t>
            </a:r>
            <a:endParaRPr lang="es-CO" sz="1700" dirty="0"/>
          </a:p>
          <a:p>
            <a:endParaRPr lang="es-CO" sz="17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503D6E-FBE6-C488-8880-D3E34C23A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50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FFE837-DDE0-E698-3C96-DB2C5537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¿Cómo funciona?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DAAD20-DCBB-06ED-F42E-F22D4DCB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Paso 1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La CTE crea una tabla temporal: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empleados_altos_salarios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Paso 2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La consulta principal usa esa “tabla”.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8B7D2B-3155-F6E0-D1E0-01C26B479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45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079D10-3333-C640-78CC-C3458633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Ejemplo comparativo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BE5AF3-C8F0-0D9D-14B2-AEC3150F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Sin CTE</a:t>
            </a:r>
            <a:endParaRPr lang="es-CO" sz="2000"/>
          </a:p>
          <a:p>
            <a:pPr marL="0" indent="0">
              <a:buNone/>
            </a:pPr>
            <a:r>
              <a:rPr lang="es-CO" sz="2000" b="1"/>
              <a:t>SELECT nombre, salario</a:t>
            </a:r>
            <a:br>
              <a:rPr lang="es-CO" sz="2000" b="1"/>
            </a:br>
            <a:r>
              <a:rPr lang="es-CO" sz="2000" b="1"/>
              <a:t>FROM (</a:t>
            </a:r>
            <a:br>
              <a:rPr lang="es-CO" sz="2000" b="1"/>
            </a:br>
            <a:r>
              <a:rPr lang="es-CO" sz="2000" b="1"/>
              <a:t>    SELECT nombre, salario</a:t>
            </a:r>
            <a:br>
              <a:rPr lang="es-CO" sz="2000" b="1"/>
            </a:br>
            <a:r>
              <a:rPr lang="es-CO" sz="2000" b="1"/>
              <a:t>    FROM empleados</a:t>
            </a:r>
            <a:br>
              <a:rPr lang="es-CO" sz="2000" b="1"/>
            </a:br>
            <a:r>
              <a:rPr lang="es-CO" sz="2000" b="1"/>
              <a:t>    WHERE salario &gt; 1000</a:t>
            </a:r>
            <a:br>
              <a:rPr lang="es-CO" sz="2000" b="1"/>
            </a:br>
            <a:r>
              <a:rPr lang="es-CO" sz="2000" b="1"/>
              <a:t>) AS temp;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19F012-6B0D-8997-715F-798B94E12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C42B46-A75B-EB45-CAFF-D000A8F5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Ejemplo comparativo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E3E3D-E343-4AA9-182C-291897586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Con CTE</a:t>
            </a:r>
            <a:endParaRPr lang="es-CO" sz="2000" dirty="0"/>
          </a:p>
          <a:p>
            <a:pPr marL="0" indent="0">
              <a:buNone/>
            </a:pPr>
            <a:r>
              <a:rPr lang="es-CO" sz="2000" b="1" dirty="0"/>
              <a:t>WITH temp AS (</a:t>
            </a:r>
            <a:br>
              <a:rPr lang="es-CO" sz="2000" b="1" dirty="0"/>
            </a:br>
            <a:r>
              <a:rPr lang="es-CO" sz="2000" b="1" dirty="0"/>
              <a:t>    SELECT nombre, salario</a:t>
            </a:r>
            <a:br>
              <a:rPr lang="es-CO" sz="2000" b="1" dirty="0"/>
            </a:br>
            <a:r>
              <a:rPr lang="es-CO" sz="2000" b="1" dirty="0"/>
              <a:t>    FROM empleados</a:t>
            </a:r>
            <a:br>
              <a:rPr lang="es-CO" sz="2000" b="1" dirty="0"/>
            </a:br>
            <a:r>
              <a:rPr lang="es-CO" sz="2000" b="1" dirty="0"/>
              <a:t>    WHERE salario &gt; 1000</a:t>
            </a:r>
            <a:br>
              <a:rPr lang="es-CO" sz="2000" b="1" dirty="0"/>
            </a:br>
            <a:r>
              <a:rPr lang="es-CO" sz="2000" b="1" dirty="0"/>
              <a:t>)</a:t>
            </a:r>
            <a:br>
              <a:rPr lang="es-CO" sz="2000" b="1" dirty="0"/>
            </a:br>
            <a:r>
              <a:rPr lang="es-CO" sz="2000" b="1" dirty="0"/>
              <a:t>SELECT nombre, salario</a:t>
            </a:r>
            <a:br>
              <a:rPr lang="es-CO" sz="2000" b="1" dirty="0"/>
            </a:br>
            <a:r>
              <a:rPr lang="es-CO" sz="2000" b="1" dirty="0"/>
              <a:t>FROM temp;</a:t>
            </a:r>
            <a:endParaRPr lang="es-CO" sz="2000" dirty="0"/>
          </a:p>
          <a:p>
            <a:pPr marL="0" indent="0">
              <a:buNone/>
            </a:pPr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211473-6638-6F9A-8B08-CF3435F2B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68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F5486A-A444-8E2B-7FFF-E608B1A2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Ventajas de múltiples CTEs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D456FF-0884-77E2-270C-AA33E3CAA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s-CO" sz="2000" b="1"/>
              <a:t>Mejor organización.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Código modular.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Fácil mantenimiento. </a:t>
            </a:r>
            <a:endParaRPr lang="es-CO" sz="2000"/>
          </a:p>
          <a:p>
            <a:pPr marL="0" lvl="0" indent="0">
              <a:buNone/>
            </a:pPr>
            <a:r>
              <a:rPr lang="es-CO" sz="2000" b="1"/>
              <a:t>Más entendible para equipos. </a:t>
            </a:r>
            <a:endParaRPr lang="es-CO" sz="2000"/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E0B182-E1DA-6690-2917-9163DF7A7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76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014581-D1EF-677E-F0D3-FEA949D5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CTE con JOIN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80ECA-0C86-8EDA-138C-6693BF89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 dirty="0"/>
              <a:t>WITH empleados_departamentos AS (</a:t>
            </a:r>
            <a:br>
              <a:rPr lang="es-CO" sz="2000" b="1" dirty="0"/>
            </a:br>
            <a:r>
              <a:rPr lang="es-CO" sz="2000" b="1" dirty="0"/>
              <a:t>    SELECT </a:t>
            </a:r>
            <a:br>
              <a:rPr lang="es-CO" sz="2000" b="1" dirty="0"/>
            </a:br>
            <a:r>
              <a:rPr lang="es-CO" sz="2000" b="1" dirty="0"/>
              <a:t>        e.nombre AS empleado,</a:t>
            </a:r>
            <a:br>
              <a:rPr lang="es-CO" sz="2000" b="1" dirty="0"/>
            </a:br>
            <a:r>
              <a:rPr lang="es-CO" sz="2000" b="1" dirty="0"/>
              <a:t>        d.nombre AS departamento</a:t>
            </a:r>
            <a:br>
              <a:rPr lang="es-CO" sz="2000" b="1" dirty="0"/>
            </a:br>
            <a:r>
              <a:rPr lang="es-CO" sz="2000" b="1" dirty="0"/>
              <a:t>    FROM empleados e</a:t>
            </a:r>
            <a:br>
              <a:rPr lang="es-CO" sz="2000" b="1" dirty="0"/>
            </a:br>
            <a:r>
              <a:rPr lang="es-CO" sz="2000" b="1" dirty="0"/>
              <a:t>    JOIN departamentos d</a:t>
            </a:r>
            <a:br>
              <a:rPr lang="es-CO" sz="2000" b="1" dirty="0"/>
            </a:br>
            <a:r>
              <a:rPr lang="es-CO" sz="2000" b="1" dirty="0"/>
              <a:t>    ON e.departamento_id = d.id</a:t>
            </a:r>
            <a:br>
              <a:rPr lang="es-CO" sz="2000" b="1" dirty="0"/>
            </a:br>
            <a:r>
              <a:rPr lang="es-CO" sz="2000" b="1" dirty="0"/>
              <a:t>)</a:t>
            </a:r>
            <a:br>
              <a:rPr lang="es-CO" sz="2000" b="1" dirty="0"/>
            </a:br>
            <a:br>
              <a:rPr lang="es-CO" sz="2000" b="1" dirty="0"/>
            </a:br>
            <a:r>
              <a:rPr lang="es-CO" sz="2000" b="1" dirty="0"/>
              <a:t>SELECT *</a:t>
            </a:r>
            <a:br>
              <a:rPr lang="es-CO" sz="2000" b="1" dirty="0"/>
            </a:br>
            <a:r>
              <a:rPr lang="es-CO" sz="2000" b="1" dirty="0"/>
              <a:t>FROM empleados_departamentos;</a:t>
            </a:r>
            <a:endParaRPr lang="es-CO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DE7DEE-3DCC-B7E8-76AE-1342AC6DA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339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921</Words>
  <Application>Microsoft Office PowerPoint</Application>
  <PresentationFormat>Panorámica</PresentationFormat>
  <Paragraphs>111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Tema de Office</vt:lpstr>
      <vt:lpstr>SQL Server Management Studio</vt:lpstr>
      <vt:lpstr>¿Qué es una Subconsulta?</vt:lpstr>
      <vt:lpstr>¿Para qué sirven las Subconsultas?</vt:lpstr>
      <vt:lpstr>Subconsultas en WHERE</vt:lpstr>
      <vt:lpstr>Operadores usados con Subconsultas</vt:lpstr>
      <vt:lpstr>Subconsultas en SELECT</vt:lpstr>
      <vt:lpstr>Subconsultas en FROM</vt:lpstr>
      <vt:lpstr>Subconsultas en FROM</vt:lpstr>
      <vt:lpstr>Subconsultas Correlacionadas</vt:lpstr>
      <vt:lpstr>¿Qué es una VIEW?</vt:lpstr>
      <vt:lpstr>¿Para qué sirven las Vistas?</vt:lpstr>
      <vt:lpstr>Sintaxis básica</vt:lpstr>
      <vt:lpstr>Consultar la vista </vt:lpstr>
      <vt:lpstr>¿Cómo funciona internamente?</vt:lpstr>
      <vt:lpstr>VIEW con JOIN</vt:lpstr>
      <vt:lpstr>Consultar vista </vt:lpstr>
      <vt:lpstr>Modificar una VIEW</vt:lpstr>
      <vt:lpstr>Eliminar una VIEW</vt:lpstr>
      <vt:lpstr>¿Qué es una CTE?</vt:lpstr>
      <vt:lpstr>¿Para qué sirven las CTEs?</vt:lpstr>
      <vt:lpstr>Sintaxis básica</vt:lpstr>
      <vt:lpstr>¿Cómo funciona?</vt:lpstr>
      <vt:lpstr>Ejemplo comparativo</vt:lpstr>
      <vt:lpstr>Ejemplo comparativo</vt:lpstr>
      <vt:lpstr>Ventajas de múltiples CTEs</vt:lpstr>
      <vt:lpstr>CTE con 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Berman Alonso Moya Umaña</dc:creator>
  <cp:lastModifiedBy>Berman Alonso Moya Umaña</cp:lastModifiedBy>
  <cp:revision>59</cp:revision>
  <dcterms:created xsi:type="dcterms:W3CDTF">2026-04-14T23:49:13Z</dcterms:created>
  <dcterms:modified xsi:type="dcterms:W3CDTF">2026-05-20T02:53:55Z</dcterms:modified>
</cp:coreProperties>
</file>