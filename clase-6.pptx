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2ECD5-6174-45B8-48A5-DC65CCA19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818714-6668-02EF-0BE7-EFAE6C002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45956F-8766-C104-511A-92A7EECD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28/04/2026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A85ED6-F911-EBCC-E362-B3BD25B97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8A2067-2C84-9C9A-5362-A615C8D15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523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0D6E38-5D86-2275-4847-C5F8EAAB1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EED1FF-BEC6-B65B-48FE-7B31169A0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558D68-CD7C-83AF-C335-5BE674FB6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28/04/2026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057A66-D406-86ED-806E-F017912DF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AE242-88F9-292D-C9DC-D5C80A85A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6179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83F93-E263-9F8C-1A6B-9C2851C73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8171CC-1D06-E3A7-6E73-E938DF286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29445F-B43E-ADAB-354C-06F06CBE1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28/04/2026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D12FD3-0226-7E43-FC40-42F701AA3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60B36B-07A7-B835-9706-3A1617C6D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3819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608E0-B185-D981-3147-1229E934C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6DE92E-77BE-5563-6A5B-1817396EA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8D8A6B-DA18-FDEF-6A3D-DF9C8F579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1CAA43-C6EC-6C5B-4D7E-A4A2DF6D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28/04/2026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60F230-750F-6DE7-C0A7-B6C710877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6D08C9-85A9-F816-5508-B5162A06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8426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989D25-A4F9-6DB4-B978-3476B14C9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670492-A359-E547-3894-3591DAA65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3C68F3-B68E-EA41-1746-1926D7538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A2F3125-CFF6-82E0-0F8F-E2CAE9C361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393EEDC-19F4-DE0F-AEF0-709BF14E66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6BF7DA0-9C20-8967-FE32-3436791E1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28/04/2026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62278C3-087F-37E9-7649-36AA16C9C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DE3ED5E-51D5-0BB4-A155-E493BD09D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686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A878C-2B32-F7C9-4371-C65C55836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41E515D-9C5D-FBB8-FD0D-C6392EAEE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28/04/2026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7CAD9D7-94E1-2353-12C8-D07608797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605DA9B-C6CD-BC5E-C863-D569EA8B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639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6A09F30-1B2D-3F1C-97D0-02980ABE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28/04/2026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CF54E0E-CF14-D4D2-AD34-B74A618F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746402-4357-7BAE-BF4D-3E3BDD64A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9721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3B3AE-2076-9F41-1F4E-EE5BB74BA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578AC6-6C33-F6C9-973F-20F739FC1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B7F78BA-3DB1-7686-F3A3-AA7CD7879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7DC2F2-1C5B-E7D1-90AC-63DFBED1D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28/04/2026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43AB5E-8BD8-1848-AC13-05DA20EB7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3AE851-D0C7-8F0E-F731-96747889E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8288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1F5D4E-16F5-1327-9ABC-9BE4329F8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A5B5F01-859B-438C-125A-05E5B9F9C3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5A4931-8A69-55A8-F86A-F7CBCE7FC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FB643B-35BA-AC53-54FA-DD00F14D7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28/04/2026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2CACA5-07FA-DB0B-38A5-F1463FCBC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D406C6-7240-A5F8-52C0-C9CB038F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2274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DC521-7317-9EE7-829E-7D21CCC59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230A5C-37BC-4EC0-DC02-72D098B72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4AC0C3-C73A-84D1-419D-FDAF9E83C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28/04/2026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C53995-BA09-9F9F-7706-1A76F614A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75D7C7-4FBD-E8D1-2374-24B5806A7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3315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6380A01-2966-E65F-DD0A-059870FFF2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2F6883-BA22-BF34-D5A7-E186D1AEF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56FAB3-3918-4BF6-6977-2F674811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D72B-C289-4FA2-A7A6-285C7A564C03}" type="datetimeFigureOut">
              <a:rPr lang="es-CO" smtClean="0"/>
              <a:t>28/04/2026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94FFF2-DE1B-497D-21D2-D5C73AF52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887700-0DDA-6822-BD48-FEFFE74D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4053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115AB8A-585B-A85E-94D6-D359638A7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5B79BA-371E-4E5E-3B6D-B04BF5007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E602C5-B239-EE35-C95E-497AE39910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B9D72B-C289-4FA2-A7A6-285C7A564C03}" type="datetimeFigureOut">
              <a:rPr lang="es-CO" smtClean="0"/>
              <a:t>28/04/2026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12A4DD-04CF-E6B8-EF64-9372C8E583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719D67-EB3D-E9A7-49D9-4406898D7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D99F52-1A38-4A59-972B-4107E8529C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4564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9A3068-E219-2237-8A8F-B37D662DA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s-CO" sz="4800" b="1"/>
              <a:t>SQL Server Management Studio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D1F4D83-DD47-A77D-A68B-4B595137DF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>
            <a:normAutofit/>
          </a:bodyPr>
          <a:lstStyle/>
          <a:p>
            <a:pPr algn="l"/>
            <a:r>
              <a:rPr lang="es-MX" sz="2000"/>
              <a:t>Profesor Berman Moya Umaña.</a:t>
            </a:r>
            <a:endParaRPr lang="es-CO" sz="2000"/>
          </a:p>
        </p:txBody>
      </p:sp>
      <p:sp>
        <p:nvSpPr>
          <p:cNvPr id="27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6B1FF23-5176-45CE-8BC8-1DB960C32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356" y="950060"/>
            <a:ext cx="6408836" cy="480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467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FBBCED9-7953-F497-668E-B427AF3EE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b="1" dirty="0"/>
              <a:t>COUNT, SUM, AVG, MIN, MAX. </a:t>
            </a:r>
            <a:endParaRPr lang="es-CO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5D87152-7B7E-59FE-637F-CC93E1BB2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803E00-0A1D-8B50-6822-897BAD7B9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En SQL hay dos formas de ver datos:</a:t>
            </a:r>
            <a:endParaRPr lang="es-CO" dirty="0"/>
          </a:p>
          <a:p>
            <a:pPr marL="0" lvl="0" indent="0">
              <a:buNone/>
            </a:pPr>
            <a:r>
              <a:rPr lang="es-CO" b="1" dirty="0"/>
              <a:t>Detalle fila por fila </a:t>
            </a:r>
            <a:endParaRPr lang="es-CO" dirty="0"/>
          </a:p>
          <a:p>
            <a:pPr marL="0" lvl="0" indent="0">
              <a:buNone/>
            </a:pPr>
            <a:r>
              <a:rPr lang="es-CO" b="1" dirty="0"/>
              <a:t>Resumen información agrupada (totales, promedios, etc.) </a:t>
            </a:r>
            <a:endParaRPr lang="es-CO" dirty="0"/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18954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142717-8644-2128-C74E-CECCE409F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b="1" dirty="0"/>
              <a:t>COUNT, SUM, AVG, MIN, MAX. </a:t>
            </a:r>
            <a:endParaRPr lang="es-CO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0B9EB0E-6458-2FC2-63BE-313864CCBF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DFDEB9-D172-1F2C-F917-B8401044D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600" b="1" dirty="0"/>
              <a:t>1. COUNT()  Contar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¿Qué hace?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Cuenta filas.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Ejemplo:</a:t>
            </a:r>
            <a:endParaRPr lang="es-CO" sz="2600" dirty="0"/>
          </a:p>
          <a:p>
            <a:pPr marL="0" indent="0">
              <a:buNone/>
            </a:pPr>
            <a:r>
              <a:rPr lang="en-US" sz="2600" b="1" dirty="0"/>
              <a:t>SELECT COUNT(*) AS </a:t>
            </a:r>
            <a:r>
              <a:rPr lang="en-US" sz="2600" b="1" dirty="0" err="1"/>
              <a:t>TotalVentas</a:t>
            </a:r>
            <a:br>
              <a:rPr lang="en-US" sz="2600" b="1" dirty="0"/>
            </a:br>
            <a:r>
              <a:rPr lang="en-US" sz="2600" b="1" dirty="0"/>
              <a:t>FROM Ventas;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Resultado: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Cuántas ventas se han hecho</a:t>
            </a:r>
            <a:endParaRPr lang="es-CO" sz="2600" dirty="0"/>
          </a:p>
          <a:p>
            <a:endParaRPr lang="es-CO" sz="2600" dirty="0"/>
          </a:p>
        </p:txBody>
      </p:sp>
    </p:spTree>
    <p:extLst>
      <p:ext uri="{BB962C8B-B14F-4D97-AF65-F5344CB8AC3E}">
        <p14:creationId xmlns:p14="http://schemas.microsoft.com/office/powerpoint/2010/main" val="437457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5AAC3B-483C-6E03-07E2-62DF2C019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b="1" dirty="0"/>
              <a:t>COUNT, SUM, AVG, MIN, MAX. </a:t>
            </a:r>
            <a:endParaRPr lang="es-CO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C6D16A2-7CCB-D75E-ED29-270883D15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EE877-1C6E-F36C-2521-5B25CB7C9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600" b="1" dirty="0"/>
              <a:t>2. SUM()  Sumar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¿Qué hace?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Suma valores numéricos.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Ejemplo: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SELECT SUM(Precio * Cantidad) AS </a:t>
            </a:r>
            <a:r>
              <a:rPr lang="es-CO" sz="2600" b="1" dirty="0" err="1"/>
              <a:t>TotalDinero</a:t>
            </a:r>
            <a:br>
              <a:rPr lang="es-CO" sz="2600" b="1" dirty="0"/>
            </a:br>
            <a:r>
              <a:rPr lang="es-CO" sz="2600" b="1" dirty="0"/>
              <a:t>FROM Ventas;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Resultado: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Total de dinero generado</a:t>
            </a:r>
            <a:endParaRPr lang="es-CO" sz="2600" dirty="0"/>
          </a:p>
          <a:p>
            <a:endParaRPr lang="es-CO" sz="2600" dirty="0"/>
          </a:p>
        </p:txBody>
      </p:sp>
    </p:spTree>
    <p:extLst>
      <p:ext uri="{BB962C8B-B14F-4D97-AF65-F5344CB8AC3E}">
        <p14:creationId xmlns:p14="http://schemas.microsoft.com/office/powerpoint/2010/main" val="3821998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58DDDA-8189-B9D7-D8C3-F34D15657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b="1" dirty="0"/>
              <a:t>COUNT, SUM, AVG, MIN, MAX. </a:t>
            </a:r>
            <a:endParaRPr lang="es-CO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DFEE025-BAF7-45A4-AF0E-CFDBFF6B2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A58968-447E-42CE-623D-3726F60EE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600" b="1" dirty="0"/>
              <a:t>3. AVG()  Promedio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¿Qué hace?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Calcula el promedio.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Ejemplo: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SELECT AVG(Precio) AS </a:t>
            </a:r>
            <a:r>
              <a:rPr lang="es-CO" sz="2600" b="1" dirty="0" err="1"/>
              <a:t>PrecioPromedio</a:t>
            </a:r>
            <a:br>
              <a:rPr lang="es-CO" sz="2600" b="1" dirty="0"/>
            </a:br>
            <a:r>
              <a:rPr lang="es-CO" sz="2600" b="1" dirty="0"/>
              <a:t>FROM Ventas;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Resultado: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Precio promedio de los productos</a:t>
            </a:r>
            <a:endParaRPr lang="es-CO" sz="2600" dirty="0"/>
          </a:p>
          <a:p>
            <a:endParaRPr lang="es-CO" sz="2600" dirty="0"/>
          </a:p>
        </p:txBody>
      </p:sp>
    </p:spTree>
    <p:extLst>
      <p:ext uri="{BB962C8B-B14F-4D97-AF65-F5344CB8AC3E}">
        <p14:creationId xmlns:p14="http://schemas.microsoft.com/office/powerpoint/2010/main" val="2943221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6AFD1F-F02D-3665-F302-61E3C40DD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b="1" dirty="0"/>
              <a:t>COUNT, SUM, AVG, MIN, MAX. </a:t>
            </a:r>
            <a:endParaRPr lang="es-CO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E507914-8072-CD5E-A42F-6966CA1AA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8FD893-B5BB-F9BA-6D0C-EEE0583E2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600" b="1" dirty="0"/>
              <a:t>4. MIN() Mínimo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¿Qué hace?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Devuelve el valor más pequeño.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Ejemplo: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SELECT MIN(Precio) AS </a:t>
            </a:r>
            <a:r>
              <a:rPr lang="es-CO" sz="2600" b="1" dirty="0" err="1"/>
              <a:t>PrecioMasBarato</a:t>
            </a:r>
            <a:br>
              <a:rPr lang="es-CO" sz="2600" b="1" dirty="0"/>
            </a:br>
            <a:r>
              <a:rPr lang="es-CO" sz="2600" b="1" dirty="0"/>
              <a:t>FROM Ventas;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Resultado: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Producto más barato</a:t>
            </a:r>
            <a:endParaRPr lang="es-CO" sz="2600" dirty="0"/>
          </a:p>
          <a:p>
            <a:endParaRPr lang="es-CO" sz="2600" dirty="0"/>
          </a:p>
        </p:txBody>
      </p:sp>
    </p:spTree>
    <p:extLst>
      <p:ext uri="{BB962C8B-B14F-4D97-AF65-F5344CB8AC3E}">
        <p14:creationId xmlns:p14="http://schemas.microsoft.com/office/powerpoint/2010/main" val="1783154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D0C150-C338-9301-B7BD-F41D263AF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b="1" dirty="0"/>
              <a:t>COUNT, SUM, AVG, MIN, MAX. </a:t>
            </a:r>
            <a:endParaRPr lang="es-CO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B9409B2-A32F-2D22-F922-6C99382F5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1330A1-A3F2-3B90-EC89-07423DB73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600" b="1" dirty="0"/>
              <a:t>5. MAX() Máximo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¿Qué hace?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Devuelve el valor más alto.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Ejemplo: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SELECT MAX(Precio) AS </a:t>
            </a:r>
            <a:r>
              <a:rPr lang="es-CO" sz="2600" b="1" dirty="0" err="1"/>
              <a:t>PrecioMasCaro</a:t>
            </a:r>
            <a:br>
              <a:rPr lang="es-CO" sz="2600" b="1" dirty="0"/>
            </a:br>
            <a:r>
              <a:rPr lang="es-CO" sz="2600" b="1" dirty="0"/>
              <a:t>FROM Ventas;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Resultado:</a:t>
            </a:r>
            <a:endParaRPr lang="es-CO" sz="2600" dirty="0"/>
          </a:p>
          <a:p>
            <a:pPr marL="0" indent="0">
              <a:buNone/>
            </a:pPr>
            <a:r>
              <a:rPr lang="es-CO" sz="2600" b="1" dirty="0"/>
              <a:t>Producto más caro.</a:t>
            </a:r>
            <a:endParaRPr lang="es-CO" sz="2600" dirty="0"/>
          </a:p>
          <a:p>
            <a:endParaRPr lang="es-CO" sz="2600" dirty="0"/>
          </a:p>
        </p:txBody>
      </p:sp>
    </p:spTree>
    <p:extLst>
      <p:ext uri="{BB962C8B-B14F-4D97-AF65-F5344CB8AC3E}">
        <p14:creationId xmlns:p14="http://schemas.microsoft.com/office/powerpoint/2010/main" val="2410577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1A3038-F5A6-F824-C9DE-1B2A7D613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CO" b="1" dirty="0"/>
              <a:t>GROUP BY y filtrado con HAVING.</a:t>
            </a:r>
            <a:endParaRPr lang="es-CO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E7CA64E-A3EA-C9E6-E809-B3F06B45A7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BE8923-BB80-F305-5272-A573C14C1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1. GROUP BY Agrupar</a:t>
            </a:r>
            <a:endParaRPr lang="es-CO" dirty="0"/>
          </a:p>
          <a:p>
            <a:pPr marL="0" indent="0">
              <a:buNone/>
            </a:pPr>
            <a:r>
              <a:rPr lang="es-CO" b="1" dirty="0"/>
              <a:t>¿Qué hace?</a:t>
            </a:r>
            <a:endParaRPr lang="es-CO" dirty="0"/>
          </a:p>
          <a:p>
            <a:pPr marL="0" indent="0">
              <a:buNone/>
            </a:pPr>
            <a:r>
              <a:rPr lang="es-CO" b="1" dirty="0"/>
              <a:t>Agrupa filas con el mismo valor.</a:t>
            </a:r>
            <a:endParaRPr lang="es-CO" dirty="0"/>
          </a:p>
          <a:p>
            <a:pPr marL="0" indent="0">
              <a:buNone/>
            </a:pPr>
            <a:r>
              <a:rPr lang="es-CO" b="1" dirty="0"/>
              <a:t>Ejemplo:</a:t>
            </a:r>
            <a:endParaRPr lang="es-CO" dirty="0"/>
          </a:p>
          <a:p>
            <a:pPr marL="0" indent="0">
              <a:buNone/>
            </a:pPr>
            <a:r>
              <a:rPr lang="es-CO" b="1" dirty="0"/>
              <a:t>SELECT </a:t>
            </a:r>
            <a:br>
              <a:rPr lang="es-CO" b="1" dirty="0"/>
            </a:br>
            <a:r>
              <a:rPr lang="es-CO" b="1" dirty="0"/>
              <a:t>Producto,</a:t>
            </a:r>
            <a:br>
              <a:rPr lang="es-CO" b="1" dirty="0"/>
            </a:br>
            <a:r>
              <a:rPr lang="es-CO" b="1" dirty="0"/>
              <a:t>SUM(Cantidad) AS </a:t>
            </a:r>
            <a:r>
              <a:rPr lang="es-CO" b="1" dirty="0" err="1"/>
              <a:t>TotalVendido</a:t>
            </a:r>
            <a:br>
              <a:rPr lang="es-CO" b="1" dirty="0"/>
            </a:br>
            <a:r>
              <a:rPr lang="es-CO" b="1" dirty="0"/>
              <a:t>FROM Ventas</a:t>
            </a:r>
            <a:br>
              <a:rPr lang="es-CO" b="1" dirty="0"/>
            </a:br>
            <a:r>
              <a:rPr lang="es-CO" b="1" dirty="0"/>
              <a:t>GROUP BY Producto;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51570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9FEC3A-C961-7462-0444-0B598C517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CO" b="1" dirty="0"/>
              <a:t>GROUP BY y filtrado con HAVING.</a:t>
            </a:r>
            <a:endParaRPr lang="es-CO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5AED0B-444B-862B-37D0-5FA7DF599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584680-738D-EDA6-B1BB-FEEC22F7F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400" b="1" dirty="0"/>
              <a:t>2. HAVING Filtrar grupos</a:t>
            </a:r>
            <a:endParaRPr lang="es-CO" sz="2400" dirty="0"/>
          </a:p>
          <a:p>
            <a:pPr marL="0" indent="0">
              <a:buNone/>
            </a:pPr>
            <a:r>
              <a:rPr lang="es-CO" sz="2400" b="1" dirty="0"/>
              <a:t>¿Qué hace?</a:t>
            </a:r>
            <a:endParaRPr lang="es-CO" sz="2400" dirty="0"/>
          </a:p>
          <a:p>
            <a:pPr marL="0" indent="0">
              <a:buNone/>
            </a:pPr>
            <a:r>
              <a:rPr lang="es-CO" sz="2400" b="1" dirty="0"/>
              <a:t>Filtra resultados después de agrupar</a:t>
            </a:r>
            <a:endParaRPr lang="es-CO" sz="2400" dirty="0"/>
          </a:p>
          <a:p>
            <a:pPr marL="0" indent="0">
              <a:buNone/>
            </a:pPr>
            <a:r>
              <a:rPr lang="es-CO" sz="2400" b="1" dirty="0"/>
              <a:t>Ejemplo:</a:t>
            </a:r>
            <a:endParaRPr lang="es-CO" sz="2400" dirty="0"/>
          </a:p>
          <a:p>
            <a:pPr marL="0" indent="0">
              <a:buNone/>
            </a:pPr>
            <a:r>
              <a:rPr lang="es-CO" sz="2400" b="1" dirty="0"/>
              <a:t>SELECT </a:t>
            </a:r>
            <a:br>
              <a:rPr lang="es-CO" sz="2400" b="1" dirty="0"/>
            </a:br>
            <a:r>
              <a:rPr lang="es-CO" sz="2400" b="1" dirty="0"/>
              <a:t>Producto,</a:t>
            </a:r>
            <a:br>
              <a:rPr lang="es-CO" sz="2400" b="1" dirty="0"/>
            </a:br>
            <a:r>
              <a:rPr lang="es-CO" sz="2400" b="1" dirty="0"/>
              <a:t>SUM(Cantidad) AS </a:t>
            </a:r>
            <a:r>
              <a:rPr lang="es-CO" sz="2400" b="1" dirty="0" err="1"/>
              <a:t>TotalVendido</a:t>
            </a:r>
            <a:br>
              <a:rPr lang="es-CO" sz="2400" b="1" dirty="0"/>
            </a:br>
            <a:r>
              <a:rPr lang="es-CO" sz="2400" b="1" dirty="0"/>
              <a:t>FROM Ventas</a:t>
            </a:r>
            <a:br>
              <a:rPr lang="es-CO" sz="2400" b="1" dirty="0"/>
            </a:br>
            <a:r>
              <a:rPr lang="es-CO" sz="2400" b="1" dirty="0"/>
              <a:t>GROUP BY Producto</a:t>
            </a:r>
            <a:br>
              <a:rPr lang="es-CO" sz="2400" b="1" dirty="0"/>
            </a:br>
            <a:r>
              <a:rPr lang="es-CO" sz="2400" b="1" dirty="0"/>
              <a:t>HAVING SUM(Cantidad) &gt; 2;</a:t>
            </a:r>
            <a:endParaRPr lang="es-CO" sz="2400" dirty="0"/>
          </a:p>
          <a:p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876807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4F7051-80AA-3B85-4B52-B2C8901FE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sz="2800" b="1"/>
              <a:t>DIFERENCIA CLAVE: WHERE vs HAVING</a:t>
            </a:r>
            <a:br>
              <a:rPr lang="es-CO" sz="2800"/>
            </a:br>
            <a:endParaRPr lang="es-CO" sz="28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94503A6-E643-C4A7-4FD8-D143C72A9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B3FD78-2AF5-EE22-C659-AAC057FF0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WHERE</a:t>
            </a:r>
            <a:endParaRPr lang="es-CO" dirty="0"/>
          </a:p>
          <a:p>
            <a:pPr marL="0" lvl="0" indent="0">
              <a:buNone/>
            </a:pPr>
            <a:r>
              <a:rPr lang="es-CO" b="1" dirty="0"/>
              <a:t>Filtra filas antes de agrupar </a:t>
            </a:r>
            <a:endParaRPr lang="es-CO" dirty="0"/>
          </a:p>
          <a:p>
            <a:pPr marL="0" lvl="0" indent="0">
              <a:buNone/>
            </a:pPr>
            <a:r>
              <a:rPr lang="es-CO" b="1" dirty="0"/>
              <a:t>NO usa funciones agregadas</a:t>
            </a:r>
            <a:endParaRPr lang="es-CO" dirty="0"/>
          </a:p>
          <a:p>
            <a:pPr marL="0" indent="0">
              <a:buNone/>
            </a:pPr>
            <a:r>
              <a:rPr lang="es-CO" b="1" dirty="0"/>
              <a:t>HAVING</a:t>
            </a:r>
            <a:endParaRPr lang="es-CO" dirty="0"/>
          </a:p>
          <a:p>
            <a:pPr marL="0" lvl="0" indent="0">
              <a:buNone/>
            </a:pPr>
            <a:r>
              <a:rPr lang="es-CO" b="1" dirty="0"/>
              <a:t>Filtra después de agrupar </a:t>
            </a:r>
            <a:endParaRPr lang="es-CO" dirty="0"/>
          </a:p>
          <a:p>
            <a:pPr marL="0" lvl="0" indent="0">
              <a:buNone/>
            </a:pPr>
            <a:r>
              <a:rPr lang="es-CO" b="1" dirty="0"/>
              <a:t>SÍ usa funciones agregadas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43269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54ABD3-8832-CB48-3A35-4D7C5047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sz="2800" b="1"/>
              <a:t>DIFERENCIA CLAVE: WHERE vs HAVING</a:t>
            </a:r>
            <a:br>
              <a:rPr lang="es-CO" sz="2800"/>
            </a:br>
            <a:endParaRPr lang="es-CO" sz="28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CB137D2-C280-24D1-1898-9D18BD77A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8C84E5-BE8A-B8FE-7E42-76637DA7E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Explicación sencilla.</a:t>
            </a:r>
            <a:endParaRPr lang="es-CO" dirty="0"/>
          </a:p>
          <a:p>
            <a:pPr marL="0" indent="0">
              <a:buNone/>
            </a:pPr>
            <a:r>
              <a:rPr lang="es-CO" b="1" dirty="0"/>
              <a:t>Imagina una tienda:</a:t>
            </a:r>
            <a:endParaRPr lang="es-CO" dirty="0"/>
          </a:p>
          <a:p>
            <a:pPr marL="0" lvl="0" indent="0">
              <a:buNone/>
            </a:pPr>
            <a:r>
              <a:rPr lang="es-CO" b="1" dirty="0"/>
              <a:t>WHERE filtras productos antes de analizarlos </a:t>
            </a:r>
            <a:endParaRPr lang="es-CO" dirty="0"/>
          </a:p>
          <a:p>
            <a:pPr marL="0" lvl="0" indent="0">
              <a:buNone/>
            </a:pPr>
            <a:r>
              <a:rPr lang="es-CO" b="1" dirty="0"/>
              <a:t>GROUP BY haces grupos (por producto) </a:t>
            </a:r>
            <a:endParaRPr lang="es-CO" dirty="0"/>
          </a:p>
          <a:p>
            <a:pPr marL="0" lvl="0" indent="0">
              <a:buNone/>
            </a:pPr>
            <a:r>
              <a:rPr lang="es-CO" b="1" dirty="0"/>
              <a:t>HAVING decides qué grupos te interesan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277948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410</Words>
  <Application>Microsoft Office PowerPoint</Application>
  <PresentationFormat>Panorámica</PresentationFormat>
  <Paragraphs>71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Tema de Office</vt:lpstr>
      <vt:lpstr>SQL Server Management Studio</vt:lpstr>
      <vt:lpstr>COUNT, SUM, AVG, MIN, MAX. </vt:lpstr>
      <vt:lpstr>COUNT, SUM, AVG, MIN, MAX. </vt:lpstr>
      <vt:lpstr>COUNT, SUM, AVG, MIN, MAX. </vt:lpstr>
      <vt:lpstr>COUNT, SUM, AVG, MIN, MAX. </vt:lpstr>
      <vt:lpstr>COUNT, SUM, AVG, MIN, MAX. </vt:lpstr>
      <vt:lpstr>COUNT, SUM, AVG, MIN, MAX. </vt:lpstr>
      <vt:lpstr>GROUP BY y filtrado con HAVING.</vt:lpstr>
      <vt:lpstr>GROUP BY y filtrado con HAVING.</vt:lpstr>
      <vt:lpstr>DIFERENCIA CLAVE: WHERE vs HAVING </vt:lpstr>
      <vt:lpstr>DIFERENCIA CLAVE: WHERE vs HAVING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Berman Alonso Moya Umaña</dc:creator>
  <cp:lastModifiedBy>Berman Alonso Moya Umaña</cp:lastModifiedBy>
  <cp:revision>12</cp:revision>
  <dcterms:created xsi:type="dcterms:W3CDTF">2026-04-14T23:49:13Z</dcterms:created>
  <dcterms:modified xsi:type="dcterms:W3CDTF">2026-04-29T01:16:05Z</dcterms:modified>
</cp:coreProperties>
</file>