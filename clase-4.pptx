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2ECD5-6174-45B8-48A5-DC65CCA19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818714-6668-02EF-0BE7-EFAE6C002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45956F-8766-C104-511A-92A7EECD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85ED6-F911-EBCC-E362-B3BD25B9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8A2067-2C84-9C9A-5362-A615C8D1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523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D6E38-5D86-2275-4847-C5F8EAAB1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EED1FF-BEC6-B65B-48FE-7B31169A0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558D68-CD7C-83AF-C335-5BE674FB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057A66-D406-86ED-806E-F017912D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AE242-88F9-292D-C9DC-D5C80A85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617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83F93-E263-9F8C-1A6B-9C2851C7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8171CC-1D06-E3A7-6E73-E938DF286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29445F-B43E-ADAB-354C-06F06CBE1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12FD3-0226-7E43-FC40-42F701AA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60B36B-07A7-B835-9706-3A1617C6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381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608E0-B185-D981-3147-1229E934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6DE92E-77BE-5563-6A5B-1817396EA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8D8A6B-DA18-FDEF-6A3D-DF9C8F579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1CAA43-C6EC-6C5B-4D7E-A4A2DF6D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14/04/2026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60F230-750F-6DE7-C0A7-B6C710877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6D08C9-85A9-F816-5508-B5162A06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842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989D25-A4F9-6DB4-B978-3476B14C9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670492-A359-E547-3894-3591DAA65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3C68F3-B68E-EA41-1746-1926D7538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A2F3125-CFF6-82E0-0F8F-E2CAE9C36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93EEDC-19F4-DE0F-AEF0-709BF14E66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6BF7DA0-9C20-8967-FE32-3436791E1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14/04/2026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62278C3-087F-37E9-7649-36AA16C9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DE3ED5E-51D5-0BB4-A155-E493BD09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686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A878C-2B32-F7C9-4371-C65C5583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1E515D-9C5D-FBB8-FD0D-C6392EAEE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14/04/2026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CAD9D7-94E1-2353-12C8-D07608797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05DA9B-C6CD-BC5E-C863-D569EA8B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639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A09F30-1B2D-3F1C-97D0-02980ABE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14/04/2026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CF54E0E-CF14-D4D2-AD34-B74A618F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746402-4357-7BAE-BF4D-3E3BDD64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9721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3B3AE-2076-9F41-1F4E-EE5BB74BA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578AC6-6C33-F6C9-973F-20F739FC1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7F78BA-3DB1-7686-F3A3-AA7CD7879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7DC2F2-1C5B-E7D1-90AC-63DFBED1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14/04/2026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43AB5E-8BD8-1848-AC13-05DA20EB7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3AE851-D0C7-8F0E-F731-96747889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8288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F5D4E-16F5-1327-9ABC-9BE4329F8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A5B5F01-859B-438C-125A-05E5B9F9C3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5A4931-8A69-55A8-F86A-F7CBCE7FC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FB643B-35BA-AC53-54FA-DD00F14D7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14/04/2026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CACA5-07FA-DB0B-38A5-F1463FCBC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D406C6-7240-A5F8-52C0-C9CB038F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2274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DC521-7317-9EE7-829E-7D21CCC59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230A5C-37BC-4EC0-DC02-72D098B72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4AC0C3-C73A-84D1-419D-FDAF9E83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C53995-BA09-9F9F-7706-1A76F614A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75D7C7-4FBD-E8D1-2374-24B5806A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331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380A01-2966-E65F-DD0A-059870FFF2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2F6883-BA22-BF34-D5A7-E186D1AEF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56FAB3-3918-4BF6-6977-2F674811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94FFF2-DE1B-497D-21D2-D5C73AF5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887700-0DDA-6822-BD48-FEFFE74D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4053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15AB8A-585B-A85E-94D6-D359638A7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5B79BA-371E-4E5E-3B6D-B04BF5007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E602C5-B239-EE35-C95E-497AE3991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9D72B-C289-4FA2-A7A6-285C7A564C03}" type="datetimeFigureOut">
              <a:rPr lang="es-CO" smtClean="0"/>
              <a:t>14/04/2026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12A4DD-04CF-E6B8-EF64-9372C8E58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719D67-EB3D-E9A7-49D9-4406898D7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456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9A3068-E219-2237-8A8F-B37D662DA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s-CO" sz="4800" b="1"/>
              <a:t>SQL Server Management Studio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1F4D83-DD47-A77D-A68B-4B595137D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r>
              <a:rPr lang="es-MX" sz="2000"/>
              <a:t>Profesor Berman Moya Umaña.</a:t>
            </a:r>
            <a:endParaRPr lang="es-CO" sz="2000"/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6B1FF23-5176-45CE-8BC8-1DB960C32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6" y="950060"/>
            <a:ext cx="6408836" cy="480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467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31EC44-4E7B-0080-886C-31C69664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s-CO" sz="2400" b="1"/>
              <a:t>¿Qué son “variables” en SQL Server?</a:t>
            </a:r>
            <a:br>
              <a:rPr lang="es-CO" sz="2400"/>
            </a:br>
            <a:endParaRPr lang="es-CO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E71C14-4F41-002B-F8E8-5708571B4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1800" b="1"/>
              <a:t>Son espacios en memoria donde se guarda un valor temporal.</a:t>
            </a:r>
            <a:endParaRPr lang="es-CO" sz="1800"/>
          </a:p>
          <a:p>
            <a:pPr marL="0" indent="0">
              <a:buNone/>
            </a:pPr>
            <a:r>
              <a:rPr lang="es-CO" sz="1800" b="1"/>
              <a:t>Analogía:</a:t>
            </a:r>
            <a:br>
              <a:rPr lang="es-CO" sz="1800" b="1"/>
            </a:br>
            <a:r>
              <a:rPr lang="es-CO" sz="1800" b="1"/>
              <a:t>Una variable es como una cajita donde guarda un dato momentáneamente.</a:t>
            </a:r>
            <a:endParaRPr lang="es-CO" sz="1800"/>
          </a:p>
          <a:p>
            <a:endParaRPr lang="es-CO" sz="18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104F9A-5746-F7A3-4AAE-17B3AB5FA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986164"/>
            <a:ext cx="6440424" cy="483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28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7EB6DE-6FF1-8EE8-92FD-BB9FD0F9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s-CO" sz="3400" b="1"/>
              <a:t>Tipos de datos</a:t>
            </a:r>
            <a:endParaRPr lang="es-CO" sz="3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A5B0A1-C760-0FFF-FB05-6C76028EC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1800" b="1"/>
              <a:t>Texto (Strings)</a:t>
            </a:r>
          </a:p>
          <a:p>
            <a:pPr marL="0" indent="0">
              <a:buNone/>
            </a:pPr>
            <a:r>
              <a:rPr lang="es-CO" sz="1800"/>
              <a:t>Varchar Texto variable</a:t>
            </a:r>
          </a:p>
          <a:p>
            <a:pPr marL="0" indent="0">
              <a:buNone/>
            </a:pPr>
            <a:r>
              <a:rPr lang="es-CO" sz="1800"/>
              <a:t>Char texto fijo</a:t>
            </a:r>
          </a:p>
          <a:p>
            <a:pPr marL="0" indent="0">
              <a:buNone/>
            </a:pPr>
            <a:r>
              <a:rPr lang="es-CO" sz="1800"/>
              <a:t>Text  texto largo (obsoleto)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A89C74A-C928-EB06-750F-FEA74D6F7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986164"/>
            <a:ext cx="6440424" cy="483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6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F07108-5144-4228-9835-E18690F4A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s-CO" sz="3400" b="1"/>
              <a:t>Tipos de datos</a:t>
            </a:r>
            <a:endParaRPr lang="es-CO" sz="3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8AE67F-C5B3-D07A-EB6A-AED08DC61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/>
              <a:t>Números</a:t>
            </a:r>
          </a:p>
          <a:p>
            <a:pPr marL="0" indent="0">
              <a:buNone/>
            </a:pPr>
            <a:r>
              <a:rPr lang="es-MX" sz="1800"/>
              <a:t>Enteros </a:t>
            </a:r>
          </a:p>
          <a:p>
            <a:pPr marL="0" indent="0">
              <a:buNone/>
            </a:pPr>
            <a:r>
              <a:rPr lang="es-MX" sz="1800"/>
              <a:t>Int números normales</a:t>
            </a:r>
          </a:p>
          <a:p>
            <a:pPr marL="0" indent="0">
              <a:buNone/>
            </a:pPr>
            <a:r>
              <a:rPr lang="es-MX" sz="1800"/>
              <a:t>Bigint números grandes</a:t>
            </a:r>
          </a:p>
          <a:p>
            <a:pPr marL="0" indent="0">
              <a:buNone/>
            </a:pPr>
            <a:r>
              <a:rPr lang="es-MX" sz="1800"/>
              <a:t>Smallint pequeños </a:t>
            </a:r>
          </a:p>
          <a:p>
            <a:pPr marL="0" indent="0">
              <a:buNone/>
            </a:pPr>
            <a:r>
              <a:rPr lang="es-MX" sz="1800"/>
              <a:t>Tinyint 0 a 255</a:t>
            </a:r>
          </a:p>
          <a:p>
            <a:pPr marL="0" indent="0">
              <a:buNone/>
            </a:pPr>
            <a:endParaRPr lang="es-CO" sz="18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F28C55-A349-5877-3E4C-CA054A8F9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986164"/>
            <a:ext cx="6440424" cy="483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22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22AD0E-C8E0-0579-90BF-E67104460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s-CO" sz="3400" b="1"/>
              <a:t>Tipos de datos</a:t>
            </a:r>
            <a:endParaRPr lang="es-CO" sz="3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BC0B6A-BAAE-B9D5-8D95-ACF2067A8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/>
              <a:t>Decimales</a:t>
            </a:r>
          </a:p>
          <a:p>
            <a:pPr marL="0" indent="0">
              <a:buNone/>
            </a:pPr>
            <a:r>
              <a:rPr lang="es-MX" sz="1800"/>
              <a:t>Decimal (p,s) precisión exacta</a:t>
            </a:r>
          </a:p>
          <a:p>
            <a:pPr marL="0" indent="0">
              <a:buNone/>
            </a:pPr>
            <a:r>
              <a:rPr lang="es-MX" sz="1800"/>
              <a:t>Numeric igual de decimal</a:t>
            </a:r>
          </a:p>
          <a:p>
            <a:pPr marL="0" indent="0">
              <a:buNone/>
            </a:pPr>
            <a:r>
              <a:rPr lang="es-MX" sz="1800"/>
              <a:t>Float aproximado.</a:t>
            </a:r>
            <a:endParaRPr lang="es-CO" sz="18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7831F6F-D484-A527-EE0A-7D9546CEC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986164"/>
            <a:ext cx="6440424" cy="483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568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4E7097-602B-9A6D-6620-4A7F089BC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s-CO" sz="3400" b="1"/>
              <a:t>Tipos de datos</a:t>
            </a:r>
            <a:endParaRPr lang="es-CO" sz="3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4983FF-6B56-4AE7-E82F-6AA1FB665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/>
              <a:t>Fechas</a:t>
            </a:r>
          </a:p>
          <a:p>
            <a:pPr marL="0" indent="0">
              <a:buNone/>
            </a:pPr>
            <a:r>
              <a:rPr lang="es-MX" sz="1800"/>
              <a:t>Datre solo fecha</a:t>
            </a:r>
          </a:p>
          <a:p>
            <a:pPr marL="0" indent="0">
              <a:buNone/>
            </a:pPr>
            <a:r>
              <a:rPr lang="es-MX" sz="1800"/>
              <a:t>Datetime fecha y hora</a:t>
            </a:r>
          </a:p>
          <a:p>
            <a:pPr marL="0" indent="0">
              <a:buNone/>
            </a:pPr>
            <a:r>
              <a:rPr lang="es-MX" sz="1800"/>
              <a:t>Time solo hora</a:t>
            </a:r>
          </a:p>
          <a:p>
            <a:pPr marL="0" indent="0">
              <a:buNone/>
            </a:pPr>
            <a:r>
              <a:rPr lang="es-MX" sz="1800"/>
              <a:t>Datetime2 mas preciso</a:t>
            </a:r>
            <a:endParaRPr lang="es-CO" sz="18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AD9761-4EDE-B4D2-F38C-0F0A185DE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986164"/>
            <a:ext cx="6440424" cy="483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179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A25538-6BE5-CE3B-9A85-E41EF2299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s-CO" sz="3400"/>
              <a:t>Tipos de datos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C81B3B-BE68-6204-0E11-6B8F3D69A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/>
              <a:t>Booleano</a:t>
            </a:r>
          </a:p>
          <a:p>
            <a:pPr marL="0" indent="0">
              <a:buNone/>
            </a:pPr>
            <a:r>
              <a:rPr lang="es-MX" sz="1800"/>
              <a:t>0 Falso</a:t>
            </a:r>
          </a:p>
          <a:p>
            <a:pPr marL="0" indent="0">
              <a:buNone/>
            </a:pPr>
            <a:r>
              <a:rPr lang="es-MX" sz="1800"/>
              <a:t>1 Verdadero</a:t>
            </a:r>
            <a:endParaRPr lang="es-CO" sz="18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A4B6C7-6428-0359-80B0-AB80E48C7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986164"/>
            <a:ext cx="6440424" cy="483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28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373A07-4E7D-6DDF-51B3-8FD35DC5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s-CO" sz="3400"/>
              <a:t>Tipos de datos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5ADAC9-28C1-DA30-3204-02FCCEB23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/>
              <a:t>Identity auto increment</a:t>
            </a:r>
          </a:p>
          <a:p>
            <a:pPr marL="0" indent="0">
              <a:buNone/>
            </a:pPr>
            <a:r>
              <a:rPr lang="es-CO" sz="1800"/>
              <a:t>Uniqueidentifier  Id-único-global</a:t>
            </a:r>
          </a:p>
          <a:p>
            <a:pPr marL="0" indent="0">
              <a:buNone/>
            </a:pPr>
            <a:r>
              <a:rPr lang="es-CO" sz="1800"/>
              <a:t>Xml datos en formato xml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F65D513-4ADC-1934-2566-55DBAC347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986164"/>
            <a:ext cx="6440424" cy="483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304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769348-2A0A-9CF7-1073-85BEB39AF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s-CO" sz="3400" b="1"/>
              <a:t>Claves primarias (PRIMARY KEY)</a:t>
            </a:r>
            <a:endParaRPr lang="es-CO" sz="3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1E48AF-45A8-96FC-F94D-DA0ABD5E4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1800" b="1"/>
              <a:t>PRIMARY KEY (Clave primaria)</a:t>
            </a:r>
            <a:endParaRPr lang="es-CO" sz="1800"/>
          </a:p>
          <a:p>
            <a:pPr marL="0" indent="0">
              <a:buNone/>
            </a:pPr>
            <a:r>
              <a:rPr lang="es-CO" sz="1800" b="1"/>
              <a:t>Analogía:</a:t>
            </a:r>
            <a:endParaRPr lang="es-CO" sz="1800"/>
          </a:p>
          <a:p>
            <a:pPr marL="0" indent="0">
              <a:buNone/>
            </a:pPr>
            <a:r>
              <a:rPr lang="es-CO" sz="1800" b="1"/>
              <a:t>Es como la cédula de identidad</a:t>
            </a:r>
            <a:endParaRPr lang="es-CO" sz="1800"/>
          </a:p>
          <a:p>
            <a:pPr marL="0" lvl="0" indent="0">
              <a:buNone/>
            </a:pPr>
            <a:r>
              <a:rPr lang="es-CO" sz="1800" b="1"/>
              <a:t>No se repite </a:t>
            </a:r>
            <a:endParaRPr lang="es-CO" sz="1800"/>
          </a:p>
          <a:p>
            <a:pPr marL="0" lvl="0" indent="0">
              <a:buNone/>
            </a:pPr>
            <a:r>
              <a:rPr lang="es-CO" sz="1800" b="1"/>
              <a:t>Identifica a cada registro </a:t>
            </a:r>
            <a:endParaRPr lang="es-CO" sz="1800"/>
          </a:p>
          <a:p>
            <a:pPr marL="0" lvl="0" indent="0">
              <a:buNone/>
            </a:pPr>
            <a:r>
              <a:rPr lang="es-CO" sz="1800" b="1"/>
              <a:t>Es única</a:t>
            </a:r>
            <a:endParaRPr lang="es-CO" sz="1800"/>
          </a:p>
          <a:p>
            <a:endParaRPr lang="es-CO" sz="18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A3D1EF-631E-6CCD-B7E2-688F866A5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986164"/>
            <a:ext cx="6440424" cy="483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27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96FA75-EAD3-99A1-8D67-DDA245C25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s-CO" sz="2600" b="1"/>
              <a:t>FOREIGN KEY (Clave foránea)</a:t>
            </a:r>
            <a:br>
              <a:rPr lang="es-CO" sz="2600"/>
            </a:br>
            <a:endParaRPr lang="es-CO" sz="2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C9A3D0-1733-BBC3-BB18-4464DF7C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1800" b="1"/>
              <a:t>Analogía:</a:t>
            </a:r>
            <a:endParaRPr lang="es-CO" sz="1800"/>
          </a:p>
          <a:p>
            <a:pPr marL="0" indent="0">
              <a:buNone/>
            </a:pPr>
            <a:r>
              <a:rPr lang="es-CO" sz="1800" b="1"/>
              <a:t>Es como una referencia o enlace</a:t>
            </a:r>
            <a:endParaRPr lang="es-CO" sz="1800"/>
          </a:p>
          <a:p>
            <a:pPr marL="0" indent="0">
              <a:buNone/>
            </a:pPr>
            <a:r>
              <a:rPr lang="es-CO" sz="1800" b="1"/>
              <a:t>Ejemplo:</a:t>
            </a:r>
            <a:endParaRPr lang="es-CO" sz="1800"/>
          </a:p>
          <a:p>
            <a:pPr marL="0" lvl="0" indent="0">
              <a:buNone/>
            </a:pPr>
            <a:r>
              <a:rPr lang="es-CO" sz="1800" b="1"/>
              <a:t>Un estudiante NO guarda el nombre del curso </a:t>
            </a:r>
            <a:endParaRPr lang="es-CO" sz="1800"/>
          </a:p>
          <a:p>
            <a:pPr marL="0" lvl="0" indent="0">
              <a:buNone/>
            </a:pPr>
            <a:r>
              <a:rPr lang="es-CO" sz="1800" b="1"/>
              <a:t>Guarda el ID del curso</a:t>
            </a:r>
            <a:endParaRPr lang="es-CO" sz="1800"/>
          </a:p>
          <a:p>
            <a:endParaRPr lang="es-CO" sz="18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C6E7A38-9D01-77F0-B97C-68983B136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986164"/>
            <a:ext cx="6440424" cy="483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04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0AB06D-BE7A-7775-B298-BD12F4D9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s-CO" sz="3100" b="1"/>
              <a:t>Relación 1:1 (Uno a Uno)</a:t>
            </a:r>
            <a:br>
              <a:rPr lang="es-CO" sz="3100"/>
            </a:br>
            <a:endParaRPr lang="es-CO" sz="3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3A5ADB-47C8-01E4-4283-610834C04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1800" b="1"/>
              <a:t>Analogía</a:t>
            </a:r>
            <a:endParaRPr lang="es-CO" sz="1800"/>
          </a:p>
          <a:p>
            <a:pPr marL="0" indent="0">
              <a:buNone/>
            </a:pPr>
            <a:r>
              <a:rPr lang="es-CO" sz="1800" b="1"/>
              <a:t> Una persona =  ID Una cédula</a:t>
            </a:r>
            <a:endParaRPr lang="es-CO" sz="1800"/>
          </a:p>
          <a:p>
            <a:pPr marL="0" indent="0">
              <a:buNone/>
            </a:pPr>
            <a:r>
              <a:rPr lang="es-CO" sz="1800" b="1"/>
              <a:t>Solo puede haber:</a:t>
            </a:r>
            <a:endParaRPr lang="es-CO" sz="1800"/>
          </a:p>
          <a:p>
            <a:pPr marL="0" lvl="0" indent="0">
              <a:buNone/>
            </a:pPr>
            <a:r>
              <a:rPr lang="es-CO" sz="1800" b="1"/>
              <a:t>1 persona 1 cédula </a:t>
            </a:r>
            <a:endParaRPr lang="es-CO" sz="1800"/>
          </a:p>
          <a:p>
            <a:pPr marL="0" lvl="0" indent="0">
              <a:buNone/>
            </a:pPr>
            <a:r>
              <a:rPr lang="es-CO" sz="1800" b="1"/>
              <a:t>1 cédula  1 persona </a:t>
            </a:r>
            <a:endParaRPr lang="es-CO" sz="1800"/>
          </a:p>
          <a:p>
            <a:endParaRPr lang="es-CO" sz="18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AEAB577-D14B-F7E9-F301-3C39FC893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986164"/>
            <a:ext cx="6440424" cy="483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746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8247AC-8DF1-F665-AE77-6F68FE385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s-CO" sz="3400" b="1"/>
              <a:t>Relación 1:1 (Uno a Uno)</a:t>
            </a:r>
            <a:endParaRPr lang="es-CO" sz="3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31C1D0-6B45-6A14-53F4-9E3233F3A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1800" b="1"/>
              <a:t>Ejemplo real (negocio)</a:t>
            </a:r>
            <a:endParaRPr lang="es-CO" sz="1800"/>
          </a:p>
          <a:p>
            <a:pPr marL="0" indent="0">
              <a:buNone/>
            </a:pPr>
            <a:r>
              <a:rPr lang="es-CO" sz="1800" b="1"/>
              <a:t>Cliente  Información financiera</a:t>
            </a:r>
            <a:endParaRPr lang="es-CO" sz="1800"/>
          </a:p>
          <a:p>
            <a:pPr marL="0" lvl="0" indent="0">
              <a:buNone/>
            </a:pPr>
            <a:r>
              <a:rPr lang="es-CO" sz="1800" b="1"/>
              <a:t>Un cliente tiene un solo perfil de crédito </a:t>
            </a:r>
            <a:endParaRPr lang="es-CO" sz="1800"/>
          </a:p>
          <a:p>
            <a:pPr marL="0" lvl="0" indent="0">
              <a:buNone/>
            </a:pPr>
            <a:r>
              <a:rPr lang="es-CO" sz="1800" b="1"/>
              <a:t>Ese perfil pertenece a un solo cliente</a:t>
            </a:r>
            <a:endParaRPr lang="es-CO" sz="1800"/>
          </a:p>
          <a:p>
            <a:endParaRPr lang="es-CO" sz="18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29DF4C7-9624-4885-519E-CCABCF219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986164"/>
            <a:ext cx="6440424" cy="483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7848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256</Words>
  <Application>Microsoft Office PowerPoint</Application>
  <PresentationFormat>Panorámica</PresentationFormat>
  <Paragraphs>60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Tema de Office</vt:lpstr>
      <vt:lpstr>SQL Server Management Studio</vt:lpstr>
      <vt:lpstr>¿Qué son “variables” en SQL Server? </vt:lpstr>
      <vt:lpstr>Tipos de datos</vt:lpstr>
      <vt:lpstr>Tipos de datos</vt:lpstr>
      <vt:lpstr>Tipos de datos</vt:lpstr>
      <vt:lpstr>Tipos de datos</vt:lpstr>
      <vt:lpstr>Tipos de datos</vt:lpstr>
      <vt:lpstr>Tipos de datos</vt:lpstr>
      <vt:lpstr>Claves primarias (PRIMARY KEY)</vt:lpstr>
      <vt:lpstr>FOREIGN KEY (Clave foránea) </vt:lpstr>
      <vt:lpstr>Relación 1:1 (Uno a Uno) </vt:lpstr>
      <vt:lpstr>Relación 1:1 (Uno a Uno)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Berman Alonso Moya Umaña</dc:creator>
  <cp:lastModifiedBy>Berman Alonso Moya Umaña</cp:lastModifiedBy>
  <cp:revision>1</cp:revision>
  <dcterms:created xsi:type="dcterms:W3CDTF">2026-04-14T23:49:13Z</dcterms:created>
  <dcterms:modified xsi:type="dcterms:W3CDTF">2026-04-15T00:18:40Z</dcterms:modified>
</cp:coreProperties>
</file>